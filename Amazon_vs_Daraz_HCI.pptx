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73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Amazon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ur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Add to Cart</c:v>
                </c:pt>
                <c:pt idx="1">
                  <c:v>Checkout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0.46700000000000003</c:v>
                </c:pt>
                <c:pt idx="1">
                  <c:v>0.39500000000000002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80-4923-8228-35E719A6B7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Daraz</c:v>
                </c:pt>
              </c:strCache>
            </c:strRef>
          </c:tx>
          <c:spPr>
            <a:solidFill>
              <a:srgbClr val="EF535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ur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Add to Cart</c:v>
                </c:pt>
                <c:pt idx="1">
                  <c:v>Checkout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0.56999999999999995</c:v>
                </c:pt>
                <c:pt idx="1">
                  <c:v>0.53500000000000003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80-4923-8228-35E719A6B7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0E0E0"/>
                </a:solidFill>
                <a:latin typeface="Arial"/>
              </a:defRPr>
            </a:pPr>
            <a:endParaRPr lang="ur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6350" cap="flat">
              <a:solidFill>
                <a:srgbClr val="1E304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0A4AE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90A4AE"/>
                    </a:solidFill>
                    <a:latin typeface="Arial"/>
                  </a:rPr>
                  <a:t>Time (seconds)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ur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E0E0E0"/>
              </a:solidFill>
            </a:defRPr>
          </a:pPr>
          <a:endParaRPr lang="ur-PK"/>
        </a:p>
      </c:txPr>
    </c:legend>
    <c:plotVisOnly val="1"/>
    <c:dispBlanksAs val="span"/>
    <c:showDLblsOverMax val="1"/>
  </c:chart>
  <c:spPr>
    <a:solidFill>
      <a:srgbClr val="142233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Amazon</c:v>
                </c:pt>
              </c:strCache>
            </c:strRef>
          </c:tx>
          <c:spPr>
            <a:solidFill>
              <a:srgbClr val="FF99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ur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U1</c:v>
                </c:pt>
                <c:pt idx="1">
                  <c:v>U2</c:v>
                </c:pt>
                <c:pt idx="2">
                  <c:v>U3</c:v>
                </c:pt>
                <c:pt idx="3">
                  <c:v>U4</c:v>
                </c:pt>
                <c:pt idx="4">
                  <c:v>U5</c:v>
                </c:pt>
                <c:pt idx="5">
                  <c:v>Mean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38</c:v>
                </c:pt>
                <c:pt idx="2">
                  <c:v>45</c:v>
                </c:pt>
                <c:pt idx="3">
                  <c:v>40</c:v>
                </c:pt>
                <c:pt idx="4">
                  <c:v>35</c:v>
                </c:pt>
                <c:pt idx="5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D4-4F09-B3B1-15A23A5D1E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Daraz</c:v>
                </c:pt>
              </c:strCache>
            </c:strRef>
          </c:tx>
          <c:spPr>
            <a:solidFill>
              <a:srgbClr val="EF535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ur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U1</c:v>
                </c:pt>
                <c:pt idx="1">
                  <c:v>U2</c:v>
                </c:pt>
                <c:pt idx="2">
                  <c:v>U3</c:v>
                </c:pt>
                <c:pt idx="3">
                  <c:v>U4</c:v>
                </c:pt>
                <c:pt idx="4">
                  <c:v>U5</c:v>
                </c:pt>
                <c:pt idx="5">
                  <c:v>Mean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68</c:v>
                </c:pt>
                <c:pt idx="1">
                  <c:v>72</c:v>
                </c:pt>
                <c:pt idx="2">
                  <c:v>65</c:v>
                </c:pt>
                <c:pt idx="3">
                  <c:v>80</c:v>
                </c:pt>
                <c:pt idx="4">
                  <c:v>75</c:v>
                </c:pt>
                <c:pt idx="5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D4-4F09-B3B1-15A23A5D1E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0E0E0"/>
                </a:solidFill>
                <a:latin typeface="Arial"/>
              </a:defRPr>
            </a:pPr>
            <a:endParaRPr lang="ur-PK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1E304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0A4AE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90A4AE"/>
                    </a:solidFill>
                    <a:latin typeface="Arial"/>
                  </a:rPr>
                  <a:t>Time (seconds)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0A4AE"/>
                </a:solidFill>
                <a:latin typeface="Arial"/>
              </a:defRPr>
            </a:pPr>
            <a:endParaRPr lang="ur-PK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E0E0E0"/>
              </a:solidFill>
            </a:defRPr>
          </a:pPr>
          <a:endParaRPr lang="ur-PK"/>
        </a:p>
      </c:txPr>
    </c:legend>
    <c:plotVisOnly val="1"/>
    <c:dispBlanksAs val="span"/>
    <c:showDLblsOverMax val="1"/>
  </c:chart>
  <c:spPr>
    <a:solidFill>
      <a:srgbClr val="1422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2779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-731520"/>
            <a:ext cx="4114800" cy="4114800"/>
          </a:xfrm>
          <a:prstGeom prst="ellipse">
            <a:avLst/>
          </a:prstGeom>
          <a:solidFill>
            <a:srgbClr val="1B2A3B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2286000"/>
            <a:ext cx="2926080" cy="2926080"/>
          </a:xfrm>
          <a:prstGeom prst="ellipse">
            <a:avLst/>
          </a:prstGeom>
          <a:solidFill>
            <a:srgbClr val="0F1E2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22960"/>
            <a:ext cx="1280160" cy="256032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SE-4114  HCI PROJECT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669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9900"/>
                </a:solidFill>
              </a:rPr>
              <a:t>Amazon</a:t>
            </a:r>
            <a:r>
              <a:rPr lang="en-US" sz="4400" b="1" dirty="0">
                <a:solidFill>
                  <a:srgbClr val="FFFFFF"/>
                </a:solidFill>
              </a:rPr>
              <a:t> vs </a:t>
            </a:r>
            <a:r>
              <a:rPr lang="en-US" sz="4400" b="1" dirty="0">
                <a:solidFill>
                  <a:srgbClr val="EF5350"/>
                </a:solidFill>
              </a:rPr>
              <a:t>Daraz
</a:t>
            </a:r>
            <a:r>
              <a:rPr lang="en-US" sz="2000" dirty="0">
                <a:solidFill>
                  <a:srgbClr val="E0E0E0"/>
                </a:solidFill>
              </a:rPr>
              <a:t>Interface Usability Evaluation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457200" y="3886200"/>
            <a:ext cx="1508760" cy="320040"/>
          </a:xfrm>
          <a:prstGeom prst="roundRect">
            <a:avLst>
              <a:gd name="adj" fmla="val 17143"/>
            </a:avLst>
          </a:prstGeom>
          <a:solidFill>
            <a:srgbClr val="1B2A3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8862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Fitts's Law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84832" y="3886200"/>
            <a:ext cx="1508760" cy="320040"/>
          </a:xfrm>
          <a:prstGeom prst="roundRect">
            <a:avLst>
              <a:gd name="adj" fmla="val 17143"/>
            </a:avLst>
          </a:prstGeom>
          <a:solidFill>
            <a:srgbClr val="1B2A3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84832" y="38862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KLM / GOMS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12464" y="3886200"/>
            <a:ext cx="1508760" cy="320040"/>
          </a:xfrm>
          <a:prstGeom prst="roundRect">
            <a:avLst>
              <a:gd name="adj" fmla="val 17143"/>
            </a:avLst>
          </a:prstGeom>
          <a:solidFill>
            <a:srgbClr val="1B2A3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2464" y="38862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Heuristic Eval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40096" y="3886200"/>
            <a:ext cx="1508760" cy="320040"/>
          </a:xfrm>
          <a:prstGeom prst="roundRect">
            <a:avLst>
              <a:gd name="adj" fmla="val 17143"/>
            </a:avLst>
          </a:prstGeom>
          <a:solidFill>
            <a:srgbClr val="1B2A3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0096" y="38862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Usability Metrics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67728" y="3886200"/>
            <a:ext cx="1508760" cy="320040"/>
          </a:xfrm>
          <a:prstGeom prst="roundRect">
            <a:avLst>
              <a:gd name="adj" fmla="val 17143"/>
            </a:avLst>
          </a:prstGeom>
          <a:solidFill>
            <a:srgbClr val="1B2A3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67728" y="38862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Descriptive Stats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Human Computer Interaction  |  Numerical &amp; Statistical Formulas in HCI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Two Interfaces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4023360" cy="4041648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13232"/>
            <a:ext cx="54864" cy="40416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" name="Shape 4"/>
          <p:cNvSpPr/>
          <p:nvPr/>
        </p:nvSpPr>
        <p:spPr>
          <a:xfrm>
            <a:off x="329184" y="713232"/>
            <a:ext cx="3968496" cy="384048"/>
          </a:xfrm>
          <a:prstGeom prst="rect">
            <a:avLst/>
          </a:prstGeom>
          <a:solidFill>
            <a:srgbClr val="2A1800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71323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</a:rPr>
              <a:t>SITE A  —  amazon.com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" y="1188720"/>
            <a:ext cx="3968496" cy="320040"/>
          </a:xfrm>
          <a:prstGeom prst="rect">
            <a:avLst/>
          </a:prstGeom>
          <a:solidFill>
            <a:srgbClr val="142233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188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Category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188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E0"/>
                </a:solidFill>
              </a:rPr>
              <a:t>Global E-commerce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" y="1527048"/>
            <a:ext cx="3968496" cy="3200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15270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Founded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15270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E0"/>
                </a:solidFill>
              </a:rPr>
              <a:t>1994 (Jeff Bezos)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" y="1865376"/>
            <a:ext cx="3968496" cy="320040"/>
          </a:xfrm>
          <a:prstGeom prst="rect">
            <a:avLst/>
          </a:prstGeom>
          <a:solidFill>
            <a:srgbClr val="142233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186537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Users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18653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E0"/>
                </a:solidFill>
              </a:rPr>
              <a:t>310M+ active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" y="2203704"/>
            <a:ext cx="3968496" cy="3200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220370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Interface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22037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E0"/>
                </a:solidFill>
              </a:rPr>
              <a:t>Clean, minimal, familiar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" y="2542032"/>
            <a:ext cx="3968496" cy="320040"/>
          </a:xfrm>
          <a:prstGeom prst="rect">
            <a:avLst/>
          </a:prstGeom>
          <a:solidFill>
            <a:srgbClr val="142233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25420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Search bar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25420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E0"/>
                </a:solidFill>
              </a:rPr>
              <a:t>Top-center, prominent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" y="2880360"/>
            <a:ext cx="3968496" cy="3200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2880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Add to Cart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20240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E0"/>
                </a:solidFill>
              </a:rPr>
              <a:t>Large orange button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" y="3218688"/>
            <a:ext cx="3968496" cy="320040"/>
          </a:xfrm>
          <a:prstGeom prst="rect">
            <a:avLst/>
          </a:prstGeom>
          <a:solidFill>
            <a:srgbClr val="142233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" y="32186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Checkout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20240" y="3218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E0"/>
                </a:solidFill>
              </a:rPr>
              <a:t>1-click, streamlined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" y="3557016"/>
            <a:ext cx="3968496" cy="3200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" y="355701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Page load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20240" y="35570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E0"/>
                </a:solidFill>
              </a:rPr>
              <a:t>~1.0 s avg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713232"/>
            <a:ext cx="4023360" cy="4041648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713232"/>
            <a:ext cx="54864" cy="4041648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4" name="Shape 32"/>
          <p:cNvSpPr/>
          <p:nvPr/>
        </p:nvSpPr>
        <p:spPr>
          <a:xfrm>
            <a:off x="4901184" y="713232"/>
            <a:ext cx="3968496" cy="384048"/>
          </a:xfrm>
          <a:prstGeom prst="rect">
            <a:avLst/>
          </a:prstGeom>
          <a:solidFill>
            <a:srgbClr val="2A0808"/>
          </a:solidFill>
          <a:ln/>
        </p:spPr>
      </p:sp>
      <p:sp>
        <p:nvSpPr>
          <p:cNvPr id="35" name="Text 33"/>
          <p:cNvSpPr/>
          <p:nvPr/>
        </p:nvSpPr>
        <p:spPr>
          <a:xfrm>
            <a:off x="4956048" y="71323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5350"/>
                </a:solidFill>
              </a:rPr>
              <a:t>SITE B  —  daraz.pk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01184" y="1188720"/>
            <a:ext cx="3968496" cy="320040"/>
          </a:xfrm>
          <a:prstGeom prst="rect">
            <a:avLst/>
          </a:prstGeom>
          <a:solidFill>
            <a:srgbClr val="142233"/>
          </a:solidFill>
          <a:ln/>
        </p:spPr>
      </p:sp>
      <p:sp>
        <p:nvSpPr>
          <p:cNvPr id="37" name="Text 35"/>
          <p:cNvSpPr/>
          <p:nvPr/>
        </p:nvSpPr>
        <p:spPr>
          <a:xfrm>
            <a:off x="5010912" y="1188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Category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92240" y="1188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E0"/>
                </a:solidFill>
              </a:rPr>
              <a:t>South Asian E-commerce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01184" y="1527048"/>
            <a:ext cx="3968496" cy="3200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40" name="Text 38"/>
          <p:cNvSpPr/>
          <p:nvPr/>
        </p:nvSpPr>
        <p:spPr>
          <a:xfrm>
            <a:off x="5010912" y="152704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Founded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92240" y="15270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E0"/>
                </a:solidFill>
              </a:rPr>
              <a:t>2012 (Alibaba Group)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01184" y="1865376"/>
            <a:ext cx="3968496" cy="320040"/>
          </a:xfrm>
          <a:prstGeom prst="rect">
            <a:avLst/>
          </a:prstGeom>
          <a:solidFill>
            <a:srgbClr val="142233"/>
          </a:solidFill>
          <a:ln/>
        </p:spPr>
      </p:sp>
      <p:sp>
        <p:nvSpPr>
          <p:cNvPr id="43" name="Text 41"/>
          <p:cNvSpPr/>
          <p:nvPr/>
        </p:nvSpPr>
        <p:spPr>
          <a:xfrm>
            <a:off x="5010912" y="186537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Users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92240" y="18653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E0"/>
                </a:solidFill>
              </a:rPr>
              <a:t>50M+ in Pakistan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901184" y="2203704"/>
            <a:ext cx="3968496" cy="3200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46" name="Text 44"/>
          <p:cNvSpPr/>
          <p:nvPr/>
        </p:nvSpPr>
        <p:spPr>
          <a:xfrm>
            <a:off x="5010912" y="220370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Interface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92240" y="22037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E0"/>
                </a:solidFill>
              </a:rPr>
              <a:t>Busy, ad-heavy, colorful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901184" y="2542032"/>
            <a:ext cx="3968496" cy="320040"/>
          </a:xfrm>
          <a:prstGeom prst="rect">
            <a:avLst/>
          </a:prstGeom>
          <a:solidFill>
            <a:srgbClr val="142233"/>
          </a:solidFill>
          <a:ln/>
        </p:spPr>
      </p:sp>
      <p:sp>
        <p:nvSpPr>
          <p:cNvPr id="49" name="Text 47"/>
          <p:cNvSpPr/>
          <p:nvPr/>
        </p:nvSpPr>
        <p:spPr>
          <a:xfrm>
            <a:off x="5010912" y="254203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Search bar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92240" y="25420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E0"/>
                </a:solidFill>
              </a:rPr>
              <a:t>Top-center, busy header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901184" y="2880360"/>
            <a:ext cx="3968496" cy="3200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52" name="Text 50"/>
          <p:cNvSpPr/>
          <p:nvPr/>
        </p:nvSpPr>
        <p:spPr>
          <a:xfrm>
            <a:off x="5010912" y="2880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Add to Cart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92240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E0"/>
                </a:solidFill>
              </a:rPr>
              <a:t>Smaller, mixed buttons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901184" y="3218688"/>
            <a:ext cx="3968496" cy="320040"/>
          </a:xfrm>
          <a:prstGeom prst="rect">
            <a:avLst/>
          </a:prstGeom>
          <a:solidFill>
            <a:srgbClr val="142233"/>
          </a:solidFill>
          <a:ln/>
        </p:spPr>
      </p:sp>
      <p:sp>
        <p:nvSpPr>
          <p:cNvPr id="55" name="Text 53"/>
          <p:cNvSpPr/>
          <p:nvPr/>
        </p:nvSpPr>
        <p:spPr>
          <a:xfrm>
            <a:off x="5010912" y="32186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Checkout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92240" y="3218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E0"/>
                </a:solidFill>
              </a:rPr>
              <a:t>Multi-step, longer flow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901184" y="3557016"/>
            <a:ext cx="3968496" cy="3200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58" name="Text 56"/>
          <p:cNvSpPr/>
          <p:nvPr/>
        </p:nvSpPr>
        <p:spPr>
          <a:xfrm>
            <a:off x="5010912" y="355701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</a:rPr>
              <a:t>Page load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92240" y="35570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E0"/>
                </a:solidFill>
              </a:rPr>
              <a:t>~1.8 s avg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61" name="Text 59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HCI Project  |  Amazon vs Daraz  |  Usability Evaluation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Formula 1 — Fitts's Law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21792"/>
            <a:ext cx="8412480" cy="530352"/>
          </a:xfrm>
          <a:prstGeom prst="rect">
            <a:avLst/>
          </a:prstGeom>
          <a:solidFill>
            <a:srgbClr val="1A2F1A"/>
          </a:solidFill>
          <a:ln w="15240">
            <a:solidFill>
              <a:srgbClr val="66BB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2179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 = a + b × log₂(2D / W)       ID = log₂(2D / W)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618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MT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126187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Movement time (seconds)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5448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54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1554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0.20 s (device constant)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847088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847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18470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0.10 s/bit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261872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2618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4920" y="126187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Distance cursor→target (px)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1554480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15544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4920" y="1554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Target width (px)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847088"/>
            <a:ext cx="457200" cy="228600"/>
          </a:xfrm>
          <a:prstGeom prst="roundRect">
            <a:avLst>
              <a:gd name="adj" fmla="val 16000"/>
            </a:avLst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1847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ID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74920" y="18470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Index of Difficulty (bits)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22128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</a:rPr>
              <a:t>Task: Pointing to Add to Cart button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523744"/>
            <a:ext cx="4023360" cy="2212848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2523744"/>
            <a:ext cx="54864" cy="22128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25786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</a:rPr>
              <a:t>Amazon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048" y="29077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</a:rPr>
              <a:t>D = 380 px   W = 120 px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" y="31821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= log₂(2×380 / 120)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4048" y="34381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log₂(6.33)  =  2.66 bits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" y="37124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 = 0.20 + 0.10 × 2.66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" y="3986784"/>
            <a:ext cx="3968496" cy="365760"/>
          </a:xfrm>
          <a:prstGeom prst="rect">
            <a:avLst/>
          </a:prstGeom>
          <a:solidFill>
            <a:srgbClr val="1A2800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398678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  =  0.467 s  (467 ms)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46320" y="2523744"/>
            <a:ext cx="4023360" cy="2212848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523744"/>
            <a:ext cx="54864" cy="2212848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6" name="Text 34"/>
          <p:cNvSpPr/>
          <p:nvPr/>
        </p:nvSpPr>
        <p:spPr>
          <a:xfrm>
            <a:off x="4956048" y="25786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5350"/>
                </a:solidFill>
              </a:rPr>
              <a:t>Daraz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56048" y="29077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</a:rPr>
              <a:t>D = 520 px   W = 80 px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56048" y="31821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= log₂(2×520 / 80)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56048" y="34381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log₂(13.0)  =  3.70 bits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56048" y="37124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 = 0.20 + 0.10 × 3.70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01184" y="3986784"/>
            <a:ext cx="3968496" cy="365760"/>
          </a:xfrm>
          <a:prstGeom prst="rect">
            <a:avLst/>
          </a:prstGeom>
          <a:solidFill>
            <a:srgbClr val="2A0808"/>
          </a:solidFill>
          <a:ln/>
        </p:spPr>
      </p:sp>
      <p:sp>
        <p:nvSpPr>
          <p:cNvPr id="42" name="Text 40"/>
          <p:cNvSpPr/>
          <p:nvPr/>
        </p:nvSpPr>
        <p:spPr>
          <a:xfrm>
            <a:off x="4956048" y="398678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  =  0.570 s  (570 ms)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0" y="4754880"/>
            <a:ext cx="9144000" cy="201168"/>
          </a:xfrm>
          <a:prstGeom prst="rect">
            <a:avLst/>
          </a:prstGeom>
          <a:solidFill>
            <a:srgbClr val="0F2A0F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475488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BB6A"/>
                </a:solidFill>
              </a:rPr>
              <a:t>Verdict: Amazon 18% faster pointing time  |  Daraz button is smaller &amp; farther = harder to click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HCI Project  |  Amazon vs Daraz  |  Usability Evaluation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Fitts's Law — Visual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A4AE"/>
                </a:solidFill>
              </a:rPr>
              <a:t>Both tasks: Add to Cart &amp; Checkout button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877824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877824"/>
            <a:ext cx="2926080" cy="822960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52160" y="877824"/>
            <a:ext cx="54864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5"/>
          <p:cNvSpPr/>
          <p:nvPr/>
        </p:nvSpPr>
        <p:spPr>
          <a:xfrm>
            <a:off x="5961888" y="93268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E0"/>
                </a:solidFill>
              </a:rPr>
              <a:t>Amazon — Add to Cart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61888" y="119786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= 2.66 bits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61888" y="139903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0.467 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52160" y="1810512"/>
            <a:ext cx="2926080" cy="822960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52160" y="1810512"/>
            <a:ext cx="54864" cy="82296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3" name="Text 10"/>
          <p:cNvSpPr/>
          <p:nvPr/>
        </p:nvSpPr>
        <p:spPr>
          <a:xfrm>
            <a:off x="5961888" y="186537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E0"/>
                </a:solidFill>
              </a:rPr>
              <a:t>Daraz — Add to Cart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61888" y="213055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= 3.70 bits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61888" y="2331720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0.570 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852160" y="2743200"/>
            <a:ext cx="2926080" cy="822960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52160" y="2743200"/>
            <a:ext cx="54864" cy="82296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8" name="Text 15"/>
          <p:cNvSpPr/>
          <p:nvPr/>
        </p:nvSpPr>
        <p:spPr>
          <a:xfrm>
            <a:off x="5961888" y="27980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E0"/>
                </a:solidFill>
              </a:rPr>
              <a:t>Amazon — Checkout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961888" y="306324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= 1.95 bits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61888" y="326440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0.395 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852160" y="3675888"/>
            <a:ext cx="2926080" cy="822960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852160" y="3675888"/>
            <a:ext cx="54864" cy="82296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23" name="Text 20"/>
          <p:cNvSpPr/>
          <p:nvPr/>
        </p:nvSpPr>
        <p:spPr>
          <a:xfrm>
            <a:off x="5961888" y="373075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E0E0"/>
                </a:solidFill>
              </a:rPr>
              <a:t>Daraz — Checkout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961888" y="399592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= 3.35 bits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961888" y="4197096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0.535 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7" name="Text 24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HCI Project  |  Amazon vs Daraz  |  Usability Evaluation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Formula 2 — KLM / GOMS Task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21792"/>
            <a:ext cx="8412480" cy="365760"/>
          </a:xfrm>
          <a:prstGeom prst="rect">
            <a:avLst/>
          </a:prstGeom>
          <a:solidFill>
            <a:srgbClr val="0D1E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2179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 =  Σ ( K + P + H + M + R )   operator times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060704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6070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94944" y="1060704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0.20s Keystroke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84832" y="1060704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2084832" y="106070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14016" y="1060704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1.10s Point (mouse)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03904" y="1060704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3803904" y="106070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33088" y="1060704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0.40s Hand switch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22976" y="1060704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5522976" y="106070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52160" y="1060704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1.35s Mental prep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42048" y="1060704"/>
            <a:ext cx="292608" cy="256032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7242048" y="106070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71232" y="1060704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varies System wait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140817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A4AE"/>
                </a:solidFill>
              </a:rPr>
              <a:t>Task: Search 'laptop' → Open product → Add to Cart → Checkout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1682496"/>
            <a:ext cx="4023360" cy="3017520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1682496"/>
            <a:ext cx="54864" cy="3017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1719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Amazon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9184" y="2029968"/>
            <a:ext cx="3968496" cy="329184"/>
          </a:xfrm>
          <a:prstGeom prst="rect">
            <a:avLst/>
          </a:prstGeom>
          <a:solidFill>
            <a:srgbClr val="1B2A3B"/>
          </a:solidFill>
          <a:ln w="6350">
            <a:solidFill>
              <a:srgbClr val="1E3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2029968"/>
            <a:ext cx="178582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Step / Action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54692" y="2029968"/>
            <a:ext cx="107149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Op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65871" y="2029968"/>
            <a:ext cx="9921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Time(s)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" y="2359152"/>
            <a:ext cx="3968496" cy="228600"/>
          </a:xfrm>
          <a:prstGeom prst="rect">
            <a:avLst/>
          </a:prstGeom>
          <a:solidFill>
            <a:srgbClr val="142233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235915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6656" y="23591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</a:rPr>
              <a:t>Hand to mouse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615184" y="235915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291840" y="23591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900"/>
                </a:solidFill>
              </a:rPr>
              <a:t>0.40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9184" y="2606040"/>
            <a:ext cx="3968496" cy="228600"/>
          </a:xfrm>
          <a:prstGeom prst="rect">
            <a:avLst/>
          </a:prstGeom>
          <a:solidFill>
            <a:srgbClr val="1B2A3B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2606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6656" y="26060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</a:rPr>
              <a:t>Think/locate search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615184" y="2606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291840" y="2606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900"/>
                </a:solidFill>
              </a:rPr>
              <a:t>1.35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9184" y="2852928"/>
            <a:ext cx="3968496" cy="228600"/>
          </a:xfrm>
          <a:prstGeom prst="rect">
            <a:avLst/>
          </a:prstGeom>
          <a:solidFill>
            <a:srgbClr val="142233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285292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76656" y="28529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</a:rPr>
              <a:t>Click search bar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15184" y="285292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P+B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291840" y="28529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900"/>
                </a:solidFill>
              </a:rPr>
              <a:t>1.20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9184" y="3099816"/>
            <a:ext cx="3968496" cy="228600"/>
          </a:xfrm>
          <a:prstGeom prst="rect">
            <a:avLst/>
          </a:prstGeom>
          <a:solidFill>
            <a:srgbClr val="1B2A3B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309981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76656" y="309981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</a:rPr>
              <a:t>Type 'laptop' ×6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15184" y="309981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6K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291840" y="309981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900"/>
                </a:solidFill>
              </a:rPr>
              <a:t>1.20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29184" y="3346704"/>
            <a:ext cx="3968496" cy="228600"/>
          </a:xfrm>
          <a:prstGeom prst="rect">
            <a:avLst/>
          </a:prstGeom>
          <a:solidFill>
            <a:srgbClr val="142233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334670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76656" y="334670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</a:rPr>
              <a:t>Press Enter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15184" y="334670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291840" y="334670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900"/>
                </a:solidFill>
              </a:rPr>
              <a:t>0.20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29184" y="3593592"/>
            <a:ext cx="3968496" cy="228600"/>
          </a:xfrm>
          <a:prstGeom prst="rect">
            <a:avLst/>
          </a:prstGeom>
          <a:solidFill>
            <a:srgbClr val="1B2A3B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359359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6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76656" y="35935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</a:rPr>
              <a:t>Wait for results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15184" y="35935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291840" y="35935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900"/>
                </a:solidFill>
              </a:rPr>
              <a:t>1.00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29184" y="3840480"/>
            <a:ext cx="3968496" cy="228600"/>
          </a:xfrm>
          <a:prstGeom prst="rect">
            <a:avLst/>
          </a:prstGeom>
          <a:solidFill>
            <a:srgbClr val="142233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4048" y="3840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7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76656" y="38404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</a:rPr>
              <a:t>Click product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615184" y="38404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P+B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291840" y="38404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900"/>
                </a:solidFill>
              </a:rPr>
              <a:t>1.20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29184" y="4087368"/>
            <a:ext cx="3968496" cy="228600"/>
          </a:xfrm>
          <a:prstGeom prst="rect">
            <a:avLst/>
          </a:prstGeom>
          <a:solidFill>
            <a:srgbClr val="1B2A3B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4048" y="408736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8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76656" y="40873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</a:rPr>
              <a:t>Wait product page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2615184" y="40873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3291840" y="40873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900"/>
                </a:solidFill>
              </a:rPr>
              <a:t>1.20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29184" y="4334256"/>
            <a:ext cx="3968496" cy="228600"/>
          </a:xfrm>
          <a:prstGeom prst="rect">
            <a:avLst/>
          </a:prstGeom>
          <a:solidFill>
            <a:srgbClr val="142233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4048" y="433425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9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76656" y="433425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</a:rPr>
              <a:t>Click Add to Cart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2615184" y="433425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P+B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3291840" y="43342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900"/>
                </a:solidFill>
              </a:rPr>
              <a:t>1.20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329184" y="4581144"/>
            <a:ext cx="3968496" cy="228600"/>
          </a:xfrm>
          <a:prstGeom prst="rect">
            <a:avLst/>
          </a:prstGeom>
          <a:solidFill>
            <a:srgbClr val="1B2A3B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4048" y="458114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10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676656" y="458114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</a:rPr>
              <a:t>Click Checkout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2615184" y="458114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P+B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3291840" y="458114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9900"/>
                </a:solidFill>
              </a:rPr>
              <a:t>1.20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29184" y="4828032"/>
            <a:ext cx="3968496" cy="292608"/>
          </a:xfrm>
          <a:prstGeom prst="rect">
            <a:avLst/>
          </a:prstGeom>
          <a:solidFill>
            <a:srgbClr val="1A2800"/>
          </a:solidFill>
          <a:ln/>
        </p:spPr>
      </p:sp>
      <p:sp>
        <p:nvSpPr>
          <p:cNvPr id="80" name="Text 78"/>
          <p:cNvSpPr/>
          <p:nvPr/>
        </p:nvSpPr>
        <p:spPr>
          <a:xfrm>
            <a:off x="384048" y="48280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TOTAL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3108960" y="482803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9.95 s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4846320" y="1682496"/>
            <a:ext cx="4023360" cy="3017520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4846320" y="1682496"/>
            <a:ext cx="54864" cy="301752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84" name="Text 82"/>
          <p:cNvSpPr/>
          <p:nvPr/>
        </p:nvSpPr>
        <p:spPr>
          <a:xfrm>
            <a:off x="4956048" y="1719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5350"/>
                </a:solidFill>
              </a:rPr>
              <a:t>Daraz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4901184" y="2029968"/>
            <a:ext cx="3968496" cy="329184"/>
          </a:xfrm>
          <a:prstGeom prst="rect">
            <a:avLst/>
          </a:prstGeom>
          <a:solidFill>
            <a:srgbClr val="1B2A3B"/>
          </a:solidFill>
          <a:ln w="6350">
            <a:solidFill>
              <a:srgbClr val="1E304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992624" y="2029968"/>
            <a:ext cx="178582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Step / Action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726692" y="2029968"/>
            <a:ext cx="107149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Op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7837871" y="2029968"/>
            <a:ext cx="9921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Time(s)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901184" y="2359152"/>
            <a:ext cx="3968496" cy="228600"/>
          </a:xfrm>
          <a:prstGeom prst="rect">
            <a:avLst/>
          </a:prstGeom>
          <a:solidFill>
            <a:srgbClr val="142233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956048" y="235915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1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5248656" y="235915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</a:rPr>
              <a:t>Hand to mouse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7187184" y="235915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7863840" y="235915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5350"/>
                </a:solidFill>
              </a:rPr>
              <a:t>0.40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4901184" y="2606040"/>
            <a:ext cx="3968496" cy="228600"/>
          </a:xfrm>
          <a:prstGeom prst="rect">
            <a:avLst/>
          </a:prstGeom>
          <a:solidFill>
            <a:srgbClr val="1B2A3B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956048" y="2606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2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5248656" y="260604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</a:rPr>
              <a:t>Think/locate search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7187184" y="2606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7863840" y="2606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5350"/>
                </a:solidFill>
              </a:rPr>
              <a:t>1.35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4901184" y="2852928"/>
            <a:ext cx="3968496" cy="228600"/>
          </a:xfrm>
          <a:prstGeom prst="rect">
            <a:avLst/>
          </a:prstGeom>
          <a:solidFill>
            <a:srgbClr val="142233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956048" y="285292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3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5248656" y="285292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</a:rPr>
              <a:t>Click search bar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7187184" y="285292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P+B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7863840" y="285292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5350"/>
                </a:solidFill>
              </a:rPr>
              <a:t>1.20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4901184" y="3099816"/>
            <a:ext cx="3968496" cy="228600"/>
          </a:xfrm>
          <a:prstGeom prst="rect">
            <a:avLst/>
          </a:prstGeom>
          <a:solidFill>
            <a:srgbClr val="1B2A3B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956048" y="309981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4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5248656" y="309981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</a:rPr>
              <a:t>Type 'laptop' ×6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7187184" y="309981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6K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7863840" y="309981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5350"/>
                </a:solidFill>
              </a:rPr>
              <a:t>1.20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4901184" y="3346704"/>
            <a:ext cx="3968496" cy="228600"/>
          </a:xfrm>
          <a:prstGeom prst="rect">
            <a:avLst/>
          </a:prstGeom>
          <a:solidFill>
            <a:srgbClr val="142233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956048" y="334670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5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5248656" y="334670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</a:rPr>
              <a:t>Press Enter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7187184" y="334670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7863840" y="334670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5350"/>
                </a:solidFill>
              </a:rPr>
              <a:t>0.20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4901184" y="3593592"/>
            <a:ext cx="3968496" cy="228600"/>
          </a:xfrm>
          <a:prstGeom prst="rect">
            <a:avLst/>
          </a:prstGeom>
          <a:solidFill>
            <a:srgbClr val="1B2A3B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956048" y="359359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6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5248656" y="35935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</a:rPr>
              <a:t>Wait (slower server)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7187184" y="35935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7863840" y="35935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5350"/>
                </a:solidFill>
              </a:rPr>
              <a:t>1.80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4901184" y="3840480"/>
            <a:ext cx="3968496" cy="228600"/>
          </a:xfrm>
          <a:prstGeom prst="rect">
            <a:avLst/>
          </a:prstGeom>
          <a:solidFill>
            <a:srgbClr val="142233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956048" y="3840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7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5248656" y="38404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</a:rPr>
              <a:t>Think: ads distract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7187184" y="38404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7863840" y="38404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5350"/>
                </a:solidFill>
              </a:rPr>
              <a:t>1.35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4901184" y="4087368"/>
            <a:ext cx="3968496" cy="228600"/>
          </a:xfrm>
          <a:prstGeom prst="rect">
            <a:avLst/>
          </a:prstGeom>
          <a:solidFill>
            <a:srgbClr val="1B2A3B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4956048" y="408736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8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5248656" y="4087368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</a:rPr>
              <a:t>Click product</a:t>
            </a:r>
            <a:endParaRPr lang="en-US" sz="800" dirty="0"/>
          </a:p>
        </p:txBody>
      </p:sp>
      <p:sp>
        <p:nvSpPr>
          <p:cNvPr id="127" name="Text 125"/>
          <p:cNvSpPr/>
          <p:nvPr/>
        </p:nvSpPr>
        <p:spPr>
          <a:xfrm>
            <a:off x="7187184" y="408736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P+B</a:t>
            </a:r>
            <a:endParaRPr lang="en-US" sz="800" dirty="0"/>
          </a:p>
        </p:txBody>
      </p:sp>
      <p:sp>
        <p:nvSpPr>
          <p:cNvPr id="128" name="Text 126"/>
          <p:cNvSpPr/>
          <p:nvPr/>
        </p:nvSpPr>
        <p:spPr>
          <a:xfrm>
            <a:off x="7863840" y="408736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5350"/>
                </a:solidFill>
              </a:rPr>
              <a:t>1.20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4901184" y="4334256"/>
            <a:ext cx="3968496" cy="228600"/>
          </a:xfrm>
          <a:prstGeom prst="rect">
            <a:avLst/>
          </a:prstGeom>
          <a:solidFill>
            <a:srgbClr val="142233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956048" y="433425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9</a:t>
            </a:r>
            <a:endParaRPr lang="en-US" sz="800" dirty="0"/>
          </a:p>
        </p:txBody>
      </p:sp>
      <p:sp>
        <p:nvSpPr>
          <p:cNvPr id="131" name="Text 129"/>
          <p:cNvSpPr/>
          <p:nvPr/>
        </p:nvSpPr>
        <p:spPr>
          <a:xfrm>
            <a:off x="5248656" y="4334256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</a:rPr>
              <a:t>Wait product page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7187184" y="433425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7863840" y="433425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5350"/>
                </a:solidFill>
              </a:rPr>
              <a:t>1.80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4901184" y="4581144"/>
            <a:ext cx="3968496" cy="228600"/>
          </a:xfrm>
          <a:prstGeom prst="rect">
            <a:avLst/>
          </a:prstGeom>
          <a:solidFill>
            <a:srgbClr val="1B2A3B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956048" y="458114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10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5248656" y="458114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</a:rPr>
              <a:t>Click Add to Cart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7187184" y="458114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P+B</a:t>
            </a:r>
            <a:endParaRPr lang="en-US" sz="800" dirty="0"/>
          </a:p>
        </p:txBody>
      </p:sp>
      <p:sp>
        <p:nvSpPr>
          <p:cNvPr id="138" name="Text 136"/>
          <p:cNvSpPr/>
          <p:nvPr/>
        </p:nvSpPr>
        <p:spPr>
          <a:xfrm>
            <a:off x="7863840" y="458114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5350"/>
                </a:solidFill>
              </a:rPr>
              <a:t>1.20</a:t>
            </a:r>
            <a:endParaRPr lang="en-US" sz="800" dirty="0"/>
          </a:p>
        </p:txBody>
      </p:sp>
      <p:sp>
        <p:nvSpPr>
          <p:cNvPr id="139" name="Text 137"/>
          <p:cNvSpPr/>
          <p:nvPr/>
        </p:nvSpPr>
        <p:spPr>
          <a:xfrm>
            <a:off x="4956048" y="457200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F5350"/>
                </a:solidFill>
              </a:rPr>
              <a:t>+ 2 extra M steps = +2.70 s</a:t>
            </a:r>
            <a:endParaRPr lang="en-US" sz="800" dirty="0"/>
          </a:p>
        </p:txBody>
      </p:sp>
      <p:sp>
        <p:nvSpPr>
          <p:cNvPr id="140" name="Shape 138"/>
          <p:cNvSpPr/>
          <p:nvPr/>
        </p:nvSpPr>
        <p:spPr>
          <a:xfrm>
            <a:off x="4901184" y="4828032"/>
            <a:ext cx="3968496" cy="292608"/>
          </a:xfrm>
          <a:prstGeom prst="rect">
            <a:avLst/>
          </a:prstGeom>
          <a:solidFill>
            <a:srgbClr val="2A0808"/>
          </a:solidFill>
          <a:ln/>
        </p:spPr>
      </p:sp>
      <p:sp>
        <p:nvSpPr>
          <p:cNvPr id="141" name="Text 139"/>
          <p:cNvSpPr/>
          <p:nvPr/>
        </p:nvSpPr>
        <p:spPr>
          <a:xfrm>
            <a:off x="4956048" y="48280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5350"/>
                </a:solidFill>
              </a:rPr>
              <a:t>TOTAL</a:t>
            </a:r>
            <a:endParaRPr lang="en-US" sz="1000" dirty="0"/>
          </a:p>
        </p:txBody>
      </p:sp>
      <p:sp>
        <p:nvSpPr>
          <p:cNvPr id="142" name="Text 140"/>
          <p:cNvSpPr/>
          <p:nvPr/>
        </p:nvSpPr>
        <p:spPr>
          <a:xfrm>
            <a:off x="7498080" y="48280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5350"/>
                </a:solidFill>
              </a:rPr>
              <a:t>13.05 s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44" name="Text 142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HCI Project  |  Amazon vs Daraz  |  Usability Evaluation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C331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Formula 3 — Heuristic Evaluation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21792"/>
            <a:ext cx="8412480" cy="347472"/>
          </a:xfrm>
          <a:prstGeom prst="rect">
            <a:avLst/>
          </a:prstGeom>
          <a:solidFill>
            <a:srgbClr val="1A1000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217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S̄  =  Σ(ratings)  /  number of evaluators          Nielsen's Model: Found(n) = 1 − (1 − p)ⁿ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04241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Severity Scale: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64208" y="104241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1664208" y="1042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38528" y="104241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No problem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08960" y="104241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8BC34A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042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83280" y="104241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Cosmetic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53712" y="104241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C107"/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1042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28032" y="104241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Minor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98464" y="104241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FF5722"/>
          </a:solidFill>
          <a:ln/>
        </p:spPr>
      </p:sp>
      <p:sp>
        <p:nvSpPr>
          <p:cNvPr id="17" name="Text 15"/>
          <p:cNvSpPr/>
          <p:nvPr/>
        </p:nvSpPr>
        <p:spPr>
          <a:xfrm>
            <a:off x="5998464" y="1042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72784" y="104241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Major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43216" y="1042416"/>
            <a:ext cx="237744" cy="237744"/>
          </a:xfrm>
          <a:prstGeom prst="roundRect">
            <a:avLst>
              <a:gd name="adj" fmla="val 15385"/>
            </a:avLst>
          </a:prstGeom>
          <a:solidFill>
            <a:srgbClr val="D32F2F"/>
          </a:solidFill>
          <a:ln/>
        </p:spPr>
      </p:sp>
      <p:sp>
        <p:nvSpPr>
          <p:cNvPr id="20" name="Text 18"/>
          <p:cNvSpPr/>
          <p:nvPr/>
        </p:nvSpPr>
        <p:spPr>
          <a:xfrm>
            <a:off x="7443216" y="1042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17536" y="1042416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Catastrophic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133502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A4AE"/>
                </a:solidFill>
              </a:rPr>
              <a:t>3 evaluators rated problems  |  Task evaluated: Full shopping flow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1591056"/>
            <a:ext cx="4023360" cy="2560320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1591056"/>
            <a:ext cx="54864" cy="25603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1627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Amazon — Problems Found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9184" y="1993392"/>
            <a:ext cx="3968496" cy="621792"/>
          </a:xfrm>
          <a:prstGeom prst="rect">
            <a:avLst/>
          </a:prstGeom>
          <a:solidFill>
            <a:srgbClr val="1B2A3B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2029968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900"/>
                </a:solidFill>
              </a:rPr>
              <a:t>A1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" y="202996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Search suggestions overflow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2336" y="23042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Ratings: 2, 3, 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86000" y="23042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S̄ = 2.33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00400" y="23042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0A4AE"/>
                </a:solidFill>
              </a:rPr>
              <a:t>Minor-Major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29184" y="2651760"/>
            <a:ext cx="3968496" cy="621792"/>
          </a:xfrm>
          <a:prstGeom prst="rect">
            <a:avLst/>
          </a:prstGeom>
          <a:solidFill>
            <a:srgbClr val="1B2A3B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" y="2688336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900"/>
                </a:solidFill>
              </a:rPr>
              <a:t>A2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49808" y="268833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Cart icon small / hard to spot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02336" y="29626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Ratings: 1, 2, 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286000" y="296265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S̄ = 1.33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00400" y="296265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0A4AE"/>
                </a:solidFill>
              </a:rPr>
              <a:t>Cosmetic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29184" y="3310128"/>
            <a:ext cx="3968496" cy="621792"/>
          </a:xfrm>
          <a:prstGeom prst="rect">
            <a:avLst/>
          </a:prstGeom>
          <a:solidFill>
            <a:srgbClr val="1B2A3B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" y="3346704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900"/>
                </a:solidFill>
              </a:rPr>
              <a:t>A3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9808" y="334670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Too many recommendations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02336" y="36210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Ratings: 2, 2, 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286000" y="362102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S̄ = 2.33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200400" y="362102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0A4AE"/>
                </a:solidFill>
              </a:rPr>
              <a:t>Minor-Major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29184" y="3584448"/>
            <a:ext cx="3968496" cy="384048"/>
          </a:xfrm>
          <a:prstGeom prst="rect">
            <a:avLst/>
          </a:prstGeom>
          <a:solidFill>
            <a:srgbClr val="1A2800"/>
          </a:solidFill>
          <a:ln/>
        </p:spPr>
      </p:sp>
      <p:sp>
        <p:nvSpPr>
          <p:cNvPr id="45" name="Text 43"/>
          <p:cNvSpPr/>
          <p:nvPr/>
        </p:nvSpPr>
        <p:spPr>
          <a:xfrm>
            <a:off x="402336" y="360273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</a:rPr>
              <a:t>Average Severity = (2.33+1.33+2.33)/3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657600" y="360273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9900"/>
                </a:solidFill>
              </a:rPr>
              <a:t>= 1.99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02336" y="3785616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9900"/>
                </a:solidFill>
              </a:rPr>
              <a:t>Overall = 1.99  (Minor level)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46320" y="1591056"/>
            <a:ext cx="4023360" cy="2560320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46320" y="1591056"/>
            <a:ext cx="54864" cy="256032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50" name="Text 48"/>
          <p:cNvSpPr/>
          <p:nvPr/>
        </p:nvSpPr>
        <p:spPr>
          <a:xfrm>
            <a:off x="4956048" y="1627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5350"/>
                </a:solidFill>
              </a:rPr>
              <a:t>Daraz — Problems Found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901184" y="1993392"/>
            <a:ext cx="3968496" cy="621792"/>
          </a:xfrm>
          <a:prstGeom prst="rect">
            <a:avLst/>
          </a:prstGeom>
          <a:solidFill>
            <a:srgbClr val="1B2A3B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74336" y="2029968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5350"/>
                </a:solidFill>
              </a:rPr>
              <a:t>D1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21808" y="2029968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Excessive ads clutter page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974336" y="23042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Ratings: 4, 3, 4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858000" y="23042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S̄ = 3.67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726680" y="23042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0A4AE"/>
                </a:solidFill>
              </a:rPr>
              <a:t>Catastrophic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4901184" y="2651760"/>
            <a:ext cx="3968496" cy="621792"/>
          </a:xfrm>
          <a:prstGeom prst="rect">
            <a:avLst/>
          </a:prstGeom>
          <a:solidFill>
            <a:srgbClr val="1B2A3B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74336" y="2688336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5350"/>
                </a:solidFill>
              </a:rPr>
              <a:t>D2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321808" y="2688336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Inconsistent button labels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974336" y="296265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Ratings: 3, 3, 2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858000" y="296265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S̄ = 2.67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726680" y="296265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0A4AE"/>
                </a:solidFill>
              </a:rPr>
              <a:t>Major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901184" y="3310128"/>
            <a:ext cx="3968496" cy="621792"/>
          </a:xfrm>
          <a:prstGeom prst="rect">
            <a:avLst/>
          </a:prstGeom>
          <a:solidFill>
            <a:srgbClr val="1B2A3B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74336" y="3346704"/>
            <a:ext cx="329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5350"/>
                </a:solidFill>
              </a:rPr>
              <a:t>D3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321808" y="334670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Checkout flow confusing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974336" y="362102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Ratings: 3, 4, 3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858000" y="362102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S̄ = 3.33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726680" y="36210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0A4AE"/>
                </a:solidFill>
              </a:rPr>
              <a:t>Major-Catast.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4901184" y="3584448"/>
            <a:ext cx="3968496" cy="384048"/>
          </a:xfrm>
          <a:prstGeom prst="rect">
            <a:avLst/>
          </a:prstGeom>
          <a:solidFill>
            <a:srgbClr val="2A0808"/>
          </a:solidFill>
          <a:ln/>
        </p:spPr>
      </p:sp>
      <p:sp>
        <p:nvSpPr>
          <p:cNvPr id="70" name="Text 68"/>
          <p:cNvSpPr/>
          <p:nvPr/>
        </p:nvSpPr>
        <p:spPr>
          <a:xfrm>
            <a:off x="4974336" y="360273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</a:rPr>
              <a:t>Average Severity = (3.67+2.67+3.33)/3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8229600" y="3602736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F5350"/>
                </a:solidFill>
              </a:rPr>
              <a:t>= 3.22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974336" y="3785616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5350"/>
                </a:solidFill>
              </a:rPr>
              <a:t>Overall = 3.22  (Major–Catastrophic)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65760" y="4187952"/>
            <a:ext cx="8412480" cy="512064"/>
          </a:xfrm>
          <a:prstGeom prst="rect">
            <a:avLst/>
          </a:prstGeom>
          <a:solidFill>
            <a:srgbClr val="142233"/>
          </a:solidFill>
          <a:ln w="6350">
            <a:solidFill>
              <a:srgbClr val="90A4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3776" y="420624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0A4AE"/>
                </a:solidFill>
              </a:rPr>
              <a:t>Nielsen's Model — 3 evaluators, p = 0.30 each: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93776" y="442569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Found(3) = 1−(1−0.30)³ = 1−(0.70)³ = 1−0.343 = 65.7% problems found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77" name="Text 7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HCI Project  |  Amazon vs Daraz  |  Usability Evaluation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Formula 4 — Usability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21792"/>
            <a:ext cx="8412480" cy="365760"/>
          </a:xfrm>
          <a:prstGeom prst="rect">
            <a:avLst/>
          </a:prstGeom>
          <a:solidFill>
            <a:srgbClr val="1A1700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2179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 = (C / A) × 100%          Eff = Successes / Time          SUS = Σ(adjusted) × 2.5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6070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A4AE"/>
                </a:solidFill>
              </a:rPr>
              <a:t>5 users | 3 tasks each: Search  /  Add to Cart  /  Complete Checkout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3167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</a:rPr>
              <a:t>Completion Rate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09344"/>
            <a:ext cx="4114800" cy="329184"/>
          </a:xfrm>
          <a:prstGeom prst="rect">
            <a:avLst/>
          </a:prstGeom>
          <a:solidFill>
            <a:srgbClr val="1B2A3B"/>
          </a:solidFill>
          <a:ln w="6350">
            <a:solidFill>
              <a:srgbClr val="1E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09344"/>
            <a:ext cx="18516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Task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67128" y="1609344"/>
            <a:ext cx="11109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Amazon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19272" y="1609344"/>
            <a:ext cx="10287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</a:rPr>
              <a:t>Daraz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938528"/>
            <a:ext cx="4114800" cy="292608"/>
          </a:xfrm>
          <a:prstGeom prst="rect">
            <a:avLst/>
          </a:prstGeom>
          <a:solidFill>
            <a:srgbClr val="142233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9385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Search product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95728" y="193852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</a:rPr>
              <a:t>5/5  100%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46704" y="193852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5350"/>
                </a:solidFill>
              </a:rPr>
              <a:t>5/5  100%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249424"/>
            <a:ext cx="4114800" cy="292608"/>
          </a:xfrm>
          <a:prstGeom prst="rect">
            <a:avLst/>
          </a:prstGeom>
          <a:solidFill>
            <a:srgbClr val="1B2A3B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24942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Add to Cart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95728" y="224942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</a:rPr>
              <a:t>5/5  100%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46704" y="224942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5350"/>
                </a:solidFill>
              </a:rPr>
              <a:t>4/5   80%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560320"/>
            <a:ext cx="4114800" cy="292608"/>
          </a:xfrm>
          <a:prstGeom prst="rect">
            <a:avLst/>
          </a:prstGeom>
          <a:solidFill>
            <a:srgbClr val="142233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5603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Checkout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95728" y="25603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</a:rPr>
              <a:t>4/5   80%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46704" y="25603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5350"/>
                </a:solidFill>
              </a:rPr>
              <a:t>3/5   60%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871216"/>
            <a:ext cx="4114800" cy="347472"/>
          </a:xfrm>
          <a:prstGeom prst="rect">
            <a:avLst/>
          </a:prstGeom>
          <a:solidFill>
            <a:srgbClr val="1A2800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287121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TOTAL CR  =  14/15 = 93.3%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08960" y="28712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5350"/>
                </a:solidFill>
              </a:rPr>
              <a:t>12/15 = 80.0%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32918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54F"/>
                </a:solidFill>
              </a:rPr>
              <a:t>Efficiency = Successes / Time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3529584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Amazon: 14 / 9.95 = 1.41 success/min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3749040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Daraz:   12 / 13.05 = 0.92 success/min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1316736"/>
            <a:ext cx="4297680" cy="3383280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1316736"/>
            <a:ext cx="54864" cy="3383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4681728" y="13533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SUS Scoring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81728" y="168249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Odd items: score − 1    Even items: 5 − score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81728" y="193852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</a:rPr>
              <a:t>Amazon SUS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81728" y="2176272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Odd adj: 3+3+2+3+3 = 14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81728" y="237744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 adj: 3+4+3+3+3 = 16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81728" y="257860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= 30   →   30 × 2.5 = 75.0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26864" y="2798064"/>
            <a:ext cx="4242816" cy="292608"/>
          </a:xfrm>
          <a:prstGeom prst="rect">
            <a:avLst/>
          </a:prstGeom>
          <a:solidFill>
            <a:srgbClr val="1A2800"/>
          </a:solidFill>
          <a:ln/>
        </p:spPr>
      </p:sp>
      <p:sp>
        <p:nvSpPr>
          <p:cNvPr id="39" name="Text 37"/>
          <p:cNvSpPr/>
          <p:nvPr/>
        </p:nvSpPr>
        <p:spPr>
          <a:xfrm>
            <a:off x="4681728" y="2798064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</a:rPr>
              <a:t>SUS = 75.0  →  Grade: GOOD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81728" y="3145536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5350"/>
                </a:solidFill>
              </a:rPr>
              <a:t>Daraz SUS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81728" y="338328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Odd adj: 2+2+1+2+2 = 9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681728" y="358444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 adj: 2+2+2+2+2 = 10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81728" y="378561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= 19   →   19 × 2.5 = 47.5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26864" y="4005072"/>
            <a:ext cx="4242816" cy="292608"/>
          </a:xfrm>
          <a:prstGeom prst="rect">
            <a:avLst/>
          </a:prstGeom>
          <a:solidFill>
            <a:srgbClr val="2A0808"/>
          </a:solidFill>
          <a:ln/>
        </p:spPr>
      </p:sp>
      <p:sp>
        <p:nvSpPr>
          <p:cNvPr id="45" name="Text 43"/>
          <p:cNvSpPr/>
          <p:nvPr/>
        </p:nvSpPr>
        <p:spPr>
          <a:xfrm>
            <a:off x="4681728" y="400507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5350"/>
                </a:solidFill>
              </a:rPr>
              <a:t>SUS = 47.5  →  Grade: POOR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435254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0A4AE"/>
                </a:solidFill>
              </a:rPr>
              <a:t>SUS Scale: &lt;51 Poor  |  51–67 OK  |  68–80 Good  |  &gt;80 Excellent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48" name="Text 46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HCI Project  |  Amazon vs Daraz  |  Usability Evaluation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Formula 5 — Descriptive Statistics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21792"/>
            <a:ext cx="8412480" cy="384048"/>
          </a:xfrm>
          <a:prstGeom prst="rect">
            <a:avLst/>
          </a:prstGeom>
          <a:solidFill>
            <a:srgbClr val="0F1A0F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2179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x̄ = Σxᵢ/n      s = √[Σ(xᵢ−x̄)²/(n−1)]      95% CI = x̄ ± 1.96×(s/√n)      %imp = (A−B)/A×100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A4AE"/>
                </a:solidFill>
              </a:rPr>
              <a:t>5 users' checkout task completion times (seconds):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316736"/>
            <a:ext cx="3931920" cy="329184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31673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Amazon: 42, 38, 45, 40, 35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316736"/>
            <a:ext cx="4297680" cy="329184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0" name="Text 8"/>
          <p:cNvSpPr/>
          <p:nvPr/>
        </p:nvSpPr>
        <p:spPr>
          <a:xfrm>
            <a:off x="4681728" y="1316736"/>
            <a:ext cx="4114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Daraz: 68, 72, 65, 80, 75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719072"/>
            <a:ext cx="4023360" cy="2670048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719072"/>
            <a:ext cx="54864" cy="267004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556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900"/>
                </a:solidFill>
              </a:rPr>
              <a:t>Amazon — Full Calculation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" y="20848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x̄ = (42+38+45+40+35) / 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2336" y="23042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200 / 5  =  40.0 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02336" y="27432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Dev²: (2²+2²+5²+0²+5²)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02336" y="29626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= 4+4+25+0+25 = 58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2336" y="34015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√(58/4) = √14.5  =  3.81 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" y="38404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 = 40 ± 1.96×(3.81/√5)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02336" y="40599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40 ± 1.96×1.704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02336" y="42793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40 ± 3.34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9184" y="4041648"/>
            <a:ext cx="3968496" cy="274320"/>
          </a:xfrm>
          <a:prstGeom prst="rect">
            <a:avLst/>
          </a:prstGeom>
          <a:solidFill>
            <a:srgbClr val="1A2800"/>
          </a:solidFill>
          <a:ln/>
        </p:spPr>
      </p:sp>
      <p:sp>
        <p:nvSpPr>
          <p:cNvPr id="23" name="Text 21"/>
          <p:cNvSpPr/>
          <p:nvPr/>
        </p:nvSpPr>
        <p:spPr>
          <a:xfrm>
            <a:off x="402336" y="40416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95% CI  =  [36.7 s  to  43.3 s]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1719072"/>
            <a:ext cx="4023360" cy="2670048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719072"/>
            <a:ext cx="54864" cy="2670048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26" name="Text 24"/>
          <p:cNvSpPr/>
          <p:nvPr/>
        </p:nvSpPr>
        <p:spPr>
          <a:xfrm>
            <a:off x="4956048" y="17556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5350"/>
                </a:solidFill>
              </a:rPr>
              <a:t>Daraz — Full Calculation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74336" y="208483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x̄ = (68+72+65+80+75) / 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74336" y="230428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360 / 5  =  72.0 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74336" y="27432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Dev²: (4²+0²+7²+8²+3²)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74336" y="29626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= 16+0+49+64+9 = 138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74336" y="34015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√(138/4) = √34.5  =  5.87 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974336" y="38404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 = 72 ± 1.96×(5.87/√5)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974336" y="405993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72 ± 1.96×2.626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974336" y="42793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72 ± 5.15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01184" y="4041648"/>
            <a:ext cx="3968496" cy="274320"/>
          </a:xfrm>
          <a:prstGeom prst="rect">
            <a:avLst/>
          </a:prstGeom>
          <a:solidFill>
            <a:srgbClr val="2A0808"/>
          </a:solidFill>
          <a:ln/>
        </p:spPr>
      </p:sp>
      <p:sp>
        <p:nvSpPr>
          <p:cNvPr id="36" name="Text 34"/>
          <p:cNvSpPr/>
          <p:nvPr/>
        </p:nvSpPr>
        <p:spPr>
          <a:xfrm>
            <a:off x="4974336" y="40416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95% CI  =  [66.9 s  to  77.2 s]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389120"/>
            <a:ext cx="8595360" cy="512064"/>
          </a:xfrm>
          <a:prstGeom prst="rect">
            <a:avLst/>
          </a:prstGeom>
          <a:solidFill>
            <a:srgbClr val="142233"/>
          </a:solidFill>
          <a:ln w="7620">
            <a:solidFill>
              <a:srgbClr val="66BB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440740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improvement = (72.0 − 40.0) / 72.0 × 100 = 44.4% faster on Amazon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02336" y="462686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CIs do NOT overlap → [36.7–43.3] vs [66.9–77.2] → difference is statistically significant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HCI Project  |  Amazon vs Daraz  |  Usability Evaluation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Statistics — Visual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A4AE"/>
                </a:solidFill>
              </a:rPr>
              <a:t>Task completion times per user (seconds)</a:t>
            </a:r>
            <a:endParaRPr lang="en-US" sz="1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822960"/>
          <a:ext cx="5486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822960"/>
            <a:ext cx="2743200" cy="475488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35040" y="822960"/>
            <a:ext cx="54864" cy="47548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5"/>
          <p:cNvSpPr/>
          <p:nvPr/>
        </p:nvSpPr>
        <p:spPr>
          <a:xfrm>
            <a:off x="6144768" y="85953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Amazon Mean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144768" y="106070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40.0 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1371600"/>
            <a:ext cx="2743200" cy="475488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35040" y="1371600"/>
            <a:ext cx="54864" cy="47548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2" name="Text 9"/>
          <p:cNvSpPr/>
          <p:nvPr/>
        </p:nvSpPr>
        <p:spPr>
          <a:xfrm>
            <a:off x="6144768" y="140817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Amazon SD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44768" y="160934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3.81 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35040" y="1920240"/>
            <a:ext cx="2743200" cy="475488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35040" y="1920240"/>
            <a:ext cx="54864" cy="47548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6" name="Text 13"/>
          <p:cNvSpPr/>
          <p:nvPr/>
        </p:nvSpPr>
        <p:spPr>
          <a:xfrm>
            <a:off x="6144768" y="195681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Amazon 95% CI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144768" y="215798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±3.34 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035040" y="2468880"/>
            <a:ext cx="2743200" cy="475488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35040" y="2468880"/>
            <a:ext cx="54864" cy="475488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20" name="Text 17"/>
          <p:cNvSpPr/>
          <p:nvPr/>
        </p:nvSpPr>
        <p:spPr>
          <a:xfrm>
            <a:off x="6144768" y="250545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Daraz Mean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144768" y="270662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72.0 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035040" y="3017520"/>
            <a:ext cx="2743200" cy="475488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035040" y="3017520"/>
            <a:ext cx="54864" cy="475488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24" name="Text 21"/>
          <p:cNvSpPr/>
          <p:nvPr/>
        </p:nvSpPr>
        <p:spPr>
          <a:xfrm>
            <a:off x="6144768" y="305409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Daraz SD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144768" y="325526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5.87 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035040" y="3566160"/>
            <a:ext cx="2743200" cy="475488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035040" y="3566160"/>
            <a:ext cx="54864" cy="475488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28" name="Text 25"/>
          <p:cNvSpPr/>
          <p:nvPr/>
        </p:nvSpPr>
        <p:spPr>
          <a:xfrm>
            <a:off x="6144768" y="360273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Daraz 95% CI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144768" y="380390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±5.15 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035040" y="4114800"/>
            <a:ext cx="2743200" cy="475488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035040" y="4114800"/>
            <a:ext cx="54864" cy="475488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32" name="Text 29"/>
          <p:cNvSpPr/>
          <p:nvPr/>
        </p:nvSpPr>
        <p:spPr>
          <a:xfrm>
            <a:off x="6144768" y="415137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A4AE"/>
                </a:solidFill>
              </a:rPr>
              <a:t>% Improvement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144768" y="435254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BB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44.4%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5" name="Text 32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HCI Project  |  Amazon vs Daraz  |  Usability Evaluation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Final Comparison — All Metrics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8595360" cy="34747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5" name="Text 3"/>
          <p:cNvSpPr/>
          <p:nvPr/>
        </p:nvSpPr>
        <p:spPr>
          <a:xfrm>
            <a:off x="402336" y="6400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Metric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0" y="640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</a:rPr>
              <a:t>Amazon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0" y="6400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5350"/>
                </a:solidFill>
              </a:rPr>
              <a:t>Daraz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0" y="6400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54F"/>
                </a:solidFill>
              </a:rPr>
              <a:t>Winner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42416"/>
            <a:ext cx="8595360" cy="356616"/>
          </a:xfrm>
          <a:prstGeom prst="rect">
            <a:avLst/>
          </a:prstGeom>
          <a:solidFill>
            <a:srgbClr val="142233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042416"/>
            <a:ext cx="2743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Fitts — Add to Cart MT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0" y="1042416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0.467 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0" y="1042416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0.570 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24928" y="1106424"/>
            <a:ext cx="1335024" cy="237744"/>
          </a:xfrm>
          <a:prstGeom prst="roundRect">
            <a:avLst>
              <a:gd name="adj" fmla="val 15385"/>
            </a:avLst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7424928" y="1106424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AMAZON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74320" y="1417320"/>
            <a:ext cx="8595360" cy="356616"/>
          </a:xfrm>
          <a:prstGeom prst="rect">
            <a:avLst/>
          </a:prstGeom>
          <a:solidFill>
            <a:srgbClr val="1B2A3B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1417320"/>
            <a:ext cx="2743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Fitts — Checkout MT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0" y="1417320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0.395 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0" y="1417320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0.535 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24928" y="1481328"/>
            <a:ext cx="1335024" cy="237744"/>
          </a:xfrm>
          <a:prstGeom prst="roundRect">
            <a:avLst>
              <a:gd name="adj" fmla="val 15385"/>
            </a:avLst>
          </a:prstGeom>
          <a:solidFill>
            <a:srgbClr val="FF9900"/>
          </a:solidFill>
          <a:ln/>
        </p:spPr>
      </p:sp>
      <p:sp>
        <p:nvSpPr>
          <p:cNvPr id="20" name="Text 18"/>
          <p:cNvSpPr/>
          <p:nvPr/>
        </p:nvSpPr>
        <p:spPr>
          <a:xfrm>
            <a:off x="7424928" y="148132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AMAZON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1792224"/>
            <a:ext cx="8595360" cy="356616"/>
          </a:xfrm>
          <a:prstGeom prst="rect">
            <a:avLst/>
          </a:prstGeom>
          <a:solidFill>
            <a:srgbClr val="142233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1792224"/>
            <a:ext cx="2743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KLM Total Task Time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0" y="1792224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9.95 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03520" y="1792224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13.05 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24928" y="1856232"/>
            <a:ext cx="1335024" cy="237744"/>
          </a:xfrm>
          <a:prstGeom prst="roundRect">
            <a:avLst>
              <a:gd name="adj" fmla="val 15385"/>
            </a:avLst>
          </a:prstGeom>
          <a:solidFill>
            <a:srgbClr val="FF9900"/>
          </a:solidFill>
          <a:ln/>
        </p:spPr>
      </p:sp>
      <p:sp>
        <p:nvSpPr>
          <p:cNvPr id="26" name="Text 24"/>
          <p:cNvSpPr/>
          <p:nvPr/>
        </p:nvSpPr>
        <p:spPr>
          <a:xfrm>
            <a:off x="7424928" y="185623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AMAZON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2167128"/>
            <a:ext cx="8595360" cy="356616"/>
          </a:xfrm>
          <a:prstGeom prst="rect">
            <a:avLst/>
          </a:prstGeom>
          <a:solidFill>
            <a:srgbClr val="1B2A3B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2167128"/>
            <a:ext cx="2743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Heuristic Avg Severity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0" y="2167128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1.99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03520" y="2167128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24928" y="2231136"/>
            <a:ext cx="1335024" cy="237744"/>
          </a:xfrm>
          <a:prstGeom prst="roundRect">
            <a:avLst>
              <a:gd name="adj" fmla="val 15385"/>
            </a:avLst>
          </a:prstGeom>
          <a:solidFill>
            <a:srgbClr val="FF9900"/>
          </a:solidFill>
          <a:ln/>
        </p:spPr>
      </p:sp>
      <p:sp>
        <p:nvSpPr>
          <p:cNvPr id="32" name="Text 30"/>
          <p:cNvSpPr/>
          <p:nvPr/>
        </p:nvSpPr>
        <p:spPr>
          <a:xfrm>
            <a:off x="7424928" y="223113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AMAZON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542032"/>
            <a:ext cx="8595360" cy="356616"/>
          </a:xfrm>
          <a:prstGeom prst="rect">
            <a:avLst/>
          </a:prstGeom>
          <a:solidFill>
            <a:srgbClr val="142233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" y="2542032"/>
            <a:ext cx="2743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Completion Rate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00400" y="2542032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93.3%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03520" y="2542032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80.0%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24928" y="2606040"/>
            <a:ext cx="1335024" cy="237744"/>
          </a:xfrm>
          <a:prstGeom prst="roundRect">
            <a:avLst>
              <a:gd name="adj" fmla="val 15385"/>
            </a:avLst>
          </a:prstGeom>
          <a:solidFill>
            <a:srgbClr val="FF9900"/>
          </a:solidFill>
          <a:ln/>
        </p:spPr>
      </p:sp>
      <p:sp>
        <p:nvSpPr>
          <p:cNvPr id="38" name="Text 36"/>
          <p:cNvSpPr/>
          <p:nvPr/>
        </p:nvSpPr>
        <p:spPr>
          <a:xfrm>
            <a:off x="7424928" y="2606040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AMAZON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74320" y="2916936"/>
            <a:ext cx="8595360" cy="356616"/>
          </a:xfrm>
          <a:prstGeom prst="rect">
            <a:avLst/>
          </a:prstGeom>
          <a:solidFill>
            <a:srgbClr val="1B2A3B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" y="2916936"/>
            <a:ext cx="2743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SUS Score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00400" y="2916936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75.0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03520" y="2916936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47.5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24928" y="2980944"/>
            <a:ext cx="1335024" cy="237744"/>
          </a:xfrm>
          <a:prstGeom prst="roundRect">
            <a:avLst>
              <a:gd name="adj" fmla="val 15385"/>
            </a:avLst>
          </a:prstGeom>
          <a:solidFill>
            <a:srgbClr val="FF9900"/>
          </a:solidFill>
          <a:ln/>
        </p:spPr>
      </p:sp>
      <p:sp>
        <p:nvSpPr>
          <p:cNvPr id="44" name="Text 42"/>
          <p:cNvSpPr/>
          <p:nvPr/>
        </p:nvSpPr>
        <p:spPr>
          <a:xfrm>
            <a:off x="7424928" y="2980944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AMAZON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74320" y="3291840"/>
            <a:ext cx="8595360" cy="356616"/>
          </a:xfrm>
          <a:prstGeom prst="rect">
            <a:avLst/>
          </a:prstGeom>
          <a:solidFill>
            <a:srgbClr val="142233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2336" y="3291840"/>
            <a:ext cx="2743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Efficiency (success/min)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00400" y="3291840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03520" y="3291840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0.92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24928" y="3355848"/>
            <a:ext cx="1335024" cy="237744"/>
          </a:xfrm>
          <a:prstGeom prst="roundRect">
            <a:avLst>
              <a:gd name="adj" fmla="val 15385"/>
            </a:avLst>
          </a:prstGeom>
          <a:solidFill>
            <a:srgbClr val="FF9900"/>
          </a:solidFill>
          <a:ln/>
        </p:spPr>
      </p:sp>
      <p:sp>
        <p:nvSpPr>
          <p:cNvPr id="50" name="Text 48"/>
          <p:cNvSpPr/>
          <p:nvPr/>
        </p:nvSpPr>
        <p:spPr>
          <a:xfrm>
            <a:off x="7424928" y="3355848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AMAZON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74320" y="3666744"/>
            <a:ext cx="8595360" cy="356616"/>
          </a:xfrm>
          <a:prstGeom prst="rect">
            <a:avLst/>
          </a:prstGeom>
          <a:solidFill>
            <a:srgbClr val="1B2A3B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2336" y="3666744"/>
            <a:ext cx="2743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Task Time Mean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200400" y="3666744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40.0 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303520" y="3666744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72.0 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424928" y="3730752"/>
            <a:ext cx="1335024" cy="237744"/>
          </a:xfrm>
          <a:prstGeom prst="roundRect">
            <a:avLst>
              <a:gd name="adj" fmla="val 15385"/>
            </a:avLst>
          </a:prstGeom>
          <a:solidFill>
            <a:srgbClr val="FF9900"/>
          </a:solidFill>
          <a:ln/>
        </p:spPr>
      </p:sp>
      <p:sp>
        <p:nvSpPr>
          <p:cNvPr id="56" name="Text 54"/>
          <p:cNvSpPr/>
          <p:nvPr/>
        </p:nvSpPr>
        <p:spPr>
          <a:xfrm>
            <a:off x="7424928" y="373075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AMAZON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74320" y="4041648"/>
            <a:ext cx="8595360" cy="356616"/>
          </a:xfrm>
          <a:prstGeom prst="rect">
            <a:avLst/>
          </a:prstGeom>
          <a:solidFill>
            <a:srgbClr val="142233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2336" y="4041648"/>
            <a:ext cx="2743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Standard Deviation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200400" y="4041648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3.81 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303520" y="4041648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5.87 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424928" y="4105656"/>
            <a:ext cx="1335024" cy="237744"/>
          </a:xfrm>
          <a:prstGeom prst="roundRect">
            <a:avLst>
              <a:gd name="adj" fmla="val 15385"/>
            </a:avLst>
          </a:prstGeom>
          <a:solidFill>
            <a:srgbClr val="FF9900"/>
          </a:solidFill>
          <a:ln/>
        </p:spPr>
      </p:sp>
      <p:sp>
        <p:nvSpPr>
          <p:cNvPr id="62" name="Text 60"/>
          <p:cNvSpPr/>
          <p:nvPr/>
        </p:nvSpPr>
        <p:spPr>
          <a:xfrm>
            <a:off x="7424928" y="410565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AMAZON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274320" y="4416552"/>
            <a:ext cx="8595360" cy="356616"/>
          </a:xfrm>
          <a:prstGeom prst="rect">
            <a:avLst/>
          </a:prstGeom>
          <a:solidFill>
            <a:srgbClr val="1B2A3B"/>
          </a:solidFill>
          <a:ln w="3810">
            <a:solidFill>
              <a:srgbClr val="1E304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02336" y="4416552"/>
            <a:ext cx="27432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95% Confidence Interval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200400" y="4416552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±3.34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303520" y="4416552"/>
            <a:ext cx="20116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5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±5.15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424928" y="4480560"/>
            <a:ext cx="1335024" cy="237744"/>
          </a:xfrm>
          <a:prstGeom prst="roundRect">
            <a:avLst>
              <a:gd name="adj" fmla="val 15385"/>
            </a:avLst>
          </a:prstGeom>
          <a:solidFill>
            <a:srgbClr val="FF9900"/>
          </a:solidFill>
          <a:ln/>
        </p:spPr>
      </p:sp>
      <p:sp>
        <p:nvSpPr>
          <p:cNvPr id="68" name="Text 66"/>
          <p:cNvSpPr/>
          <p:nvPr/>
        </p:nvSpPr>
        <p:spPr>
          <a:xfrm>
            <a:off x="7424928" y="4480560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AMAZON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70" name="Text 68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All formulas applied — Amazon wins on every single metric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Conclusion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8595360" cy="603504"/>
          </a:xfrm>
          <a:prstGeom prst="rect">
            <a:avLst/>
          </a:prstGeom>
          <a:solidFill>
            <a:srgbClr val="1A2800"/>
          </a:solidFill>
          <a:ln w="15240">
            <a:solidFill>
              <a:srgbClr val="66BB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949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9900"/>
                </a:solidFill>
              </a:rPr>
              <a:t>Overall Winner: Amazon.com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9692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0E0"/>
                </a:solidFill>
              </a:rPr>
              <a:t>Better on all 5 formulas — 10/10 sub-metrics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694944"/>
            <a:ext cx="640080" cy="512064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8" name="Shape 6"/>
          <p:cNvSpPr/>
          <p:nvPr/>
        </p:nvSpPr>
        <p:spPr>
          <a:xfrm>
            <a:off x="4663440" y="1114836"/>
            <a:ext cx="640080" cy="9217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22529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0A4AE"/>
                </a:solidFill>
              </a:rPr>
              <a:t>Fitts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5449824" y="694944"/>
            <a:ext cx="640080" cy="512064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1" name="Shape 9"/>
          <p:cNvSpPr/>
          <p:nvPr/>
        </p:nvSpPr>
        <p:spPr>
          <a:xfrm>
            <a:off x="5449824" y="1084113"/>
            <a:ext cx="640080" cy="122895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2" name="Text 10"/>
          <p:cNvSpPr/>
          <p:nvPr/>
        </p:nvSpPr>
        <p:spPr>
          <a:xfrm>
            <a:off x="5449824" y="122529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0A4AE"/>
                </a:solidFill>
              </a:rPr>
              <a:t>KLM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6236208" y="694944"/>
            <a:ext cx="640080" cy="512064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4" name="Shape 12"/>
          <p:cNvSpPr/>
          <p:nvPr/>
        </p:nvSpPr>
        <p:spPr>
          <a:xfrm>
            <a:off x="6236208" y="889528"/>
            <a:ext cx="640080" cy="31748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22529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0A4AE"/>
                </a:solidFill>
              </a:rPr>
              <a:t>Heuristic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7022592" y="694944"/>
            <a:ext cx="640080" cy="512064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7" name="Shape 15"/>
          <p:cNvSpPr/>
          <p:nvPr/>
        </p:nvSpPr>
        <p:spPr>
          <a:xfrm>
            <a:off x="7022592" y="915132"/>
            <a:ext cx="640080" cy="291876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8" name="Text 16"/>
          <p:cNvSpPr/>
          <p:nvPr/>
        </p:nvSpPr>
        <p:spPr>
          <a:xfrm>
            <a:off x="7022592" y="122529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0A4AE"/>
                </a:solidFill>
              </a:rPr>
              <a:t>SUS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7808976" y="694944"/>
            <a:ext cx="640080" cy="512064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0" name="Shape 18"/>
          <p:cNvSpPr/>
          <p:nvPr/>
        </p:nvSpPr>
        <p:spPr>
          <a:xfrm>
            <a:off x="7808976" y="981700"/>
            <a:ext cx="640080" cy="225308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21" name="Text 19"/>
          <p:cNvSpPr/>
          <p:nvPr/>
        </p:nvSpPr>
        <p:spPr>
          <a:xfrm>
            <a:off x="7808976" y="122529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0A4AE"/>
                </a:solidFill>
              </a:rPr>
              <a:t>Task Time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274320" y="1389888"/>
            <a:ext cx="4023360" cy="2157984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1389888"/>
            <a:ext cx="54864" cy="215798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" y="1426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Amazon — Strengths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177393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F9900"/>
          </a:solidFill>
          <a:ln/>
        </p:spPr>
      </p:sp>
      <p:sp>
        <p:nvSpPr>
          <p:cNvPr id="26" name="Text 24"/>
          <p:cNvSpPr/>
          <p:nvPr/>
        </p:nvSpPr>
        <p:spPr>
          <a:xfrm>
            <a:off x="585216" y="177393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Larger, well-placed buttons (Fitts win)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04825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" y="204825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Fewer steps to checkout (KLM win)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232257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" y="23225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Minimal distractions &amp; ads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259689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F9900"/>
          </a:solidFill>
          <a:ln/>
        </p:spPr>
      </p:sp>
      <p:sp>
        <p:nvSpPr>
          <p:cNvPr id="32" name="Text 30"/>
          <p:cNvSpPr/>
          <p:nvPr/>
        </p:nvSpPr>
        <p:spPr>
          <a:xfrm>
            <a:off x="585216" y="25968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Consistent button labels &amp; flow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287121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F9900"/>
          </a:solidFill>
          <a:ln/>
        </p:spPr>
      </p:sp>
      <p:sp>
        <p:nvSpPr>
          <p:cNvPr id="34" name="Text 32"/>
          <p:cNvSpPr/>
          <p:nvPr/>
        </p:nvSpPr>
        <p:spPr>
          <a:xfrm>
            <a:off x="585216" y="287121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Faster page response time (~1.0s)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14553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F9900"/>
          </a:solidFill>
          <a:ln/>
        </p:spPr>
      </p:sp>
      <p:sp>
        <p:nvSpPr>
          <p:cNvPr id="36" name="Text 34"/>
          <p:cNvSpPr/>
          <p:nvPr/>
        </p:nvSpPr>
        <p:spPr>
          <a:xfrm>
            <a:off x="585216" y="314553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SUS 75 — graded 'Good' usability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1389888"/>
            <a:ext cx="4023360" cy="2157984"/>
          </a:xfrm>
          <a:prstGeom prst="rect">
            <a:avLst/>
          </a:prstGeom>
          <a:solidFill>
            <a:srgbClr val="142233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1389888"/>
            <a:ext cx="54864" cy="215798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9" name="Text 37"/>
          <p:cNvSpPr/>
          <p:nvPr/>
        </p:nvSpPr>
        <p:spPr>
          <a:xfrm>
            <a:off x="4956048" y="1426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5350"/>
                </a:solidFill>
              </a:rPr>
              <a:t>Daraz — Issues to Fix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919472" y="177393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F5350"/>
          </a:solidFill>
          <a:ln/>
        </p:spPr>
      </p:sp>
      <p:sp>
        <p:nvSpPr>
          <p:cNvPr id="41" name="Text 39"/>
          <p:cNvSpPr/>
          <p:nvPr/>
        </p:nvSpPr>
        <p:spPr>
          <a:xfrm>
            <a:off x="5138928" y="177393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Small, hard-to-reach buttons (Fitts loss)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919472" y="204825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F5350"/>
          </a:solidFill>
          <a:ln/>
        </p:spPr>
      </p:sp>
      <p:sp>
        <p:nvSpPr>
          <p:cNvPr id="43" name="Text 41"/>
          <p:cNvSpPr/>
          <p:nvPr/>
        </p:nvSpPr>
        <p:spPr>
          <a:xfrm>
            <a:off x="5138928" y="204825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Extra M operators = longer task time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19472" y="232257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F5350"/>
          </a:solidFill>
          <a:ln/>
        </p:spPr>
      </p:sp>
      <p:sp>
        <p:nvSpPr>
          <p:cNvPr id="45" name="Text 43"/>
          <p:cNvSpPr/>
          <p:nvPr/>
        </p:nvSpPr>
        <p:spPr>
          <a:xfrm>
            <a:off x="5138928" y="23225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Excessive ads distract users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919472" y="259689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F5350"/>
          </a:solidFill>
          <a:ln/>
        </p:spPr>
      </p:sp>
      <p:sp>
        <p:nvSpPr>
          <p:cNvPr id="47" name="Text 45"/>
          <p:cNvSpPr/>
          <p:nvPr/>
        </p:nvSpPr>
        <p:spPr>
          <a:xfrm>
            <a:off x="5138928" y="259689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Inconsistent checkout button labels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919472" y="287121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F5350"/>
          </a:solidFill>
          <a:ln/>
        </p:spPr>
      </p:sp>
      <p:sp>
        <p:nvSpPr>
          <p:cNvPr id="49" name="Text 47"/>
          <p:cNvSpPr/>
          <p:nvPr/>
        </p:nvSpPr>
        <p:spPr>
          <a:xfrm>
            <a:off x="5138928" y="287121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Slow page loads (1.8s avg)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919472" y="314553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F5350"/>
          </a:solidFill>
          <a:ln/>
        </p:spPr>
      </p:sp>
      <p:sp>
        <p:nvSpPr>
          <p:cNvPr id="51" name="Text 49"/>
          <p:cNvSpPr/>
          <p:nvPr/>
        </p:nvSpPr>
        <p:spPr>
          <a:xfrm>
            <a:off x="5138928" y="314553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0E0"/>
                </a:solidFill>
              </a:rPr>
              <a:t>SUS 47.5 — graded 'Poor' usability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65760" y="363931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54F"/>
                </a:solidFill>
              </a:rPr>
              <a:t>Recommendations for Daraz to improve: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3931920"/>
            <a:ext cx="2103120" cy="804672"/>
          </a:xfrm>
          <a:prstGeom prst="roundRect">
            <a:avLst>
              <a:gd name="adj" fmla="val 6818"/>
            </a:avLst>
          </a:prstGeom>
          <a:solidFill>
            <a:srgbClr val="142233"/>
          </a:solidFill>
          <a:ln w="6350">
            <a:solidFill>
              <a:srgbClr val="FFD54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396849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54F"/>
                </a:solidFill>
              </a:rPr>
              <a:t>Enlarge buttons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65760" y="42245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Increase W → reduces ID → faster pointing (Fitts)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487168" y="3931920"/>
            <a:ext cx="2103120" cy="804672"/>
          </a:xfrm>
          <a:prstGeom prst="roundRect">
            <a:avLst>
              <a:gd name="adj" fmla="val 6818"/>
            </a:avLst>
          </a:prstGeom>
          <a:solidFill>
            <a:srgbClr val="142233"/>
          </a:solidFill>
          <a:ln w="6350">
            <a:solidFill>
              <a:srgbClr val="FFD54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78608" y="396849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54F"/>
                </a:solidFill>
              </a:rPr>
              <a:t>Remove ads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578608" y="42245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Fewer distractors = less M operators (KLM)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700016" y="3931920"/>
            <a:ext cx="2103120" cy="804672"/>
          </a:xfrm>
          <a:prstGeom prst="roundRect">
            <a:avLst>
              <a:gd name="adj" fmla="val 6818"/>
            </a:avLst>
          </a:prstGeom>
          <a:solidFill>
            <a:srgbClr val="142233"/>
          </a:solidFill>
          <a:ln w="6350">
            <a:solidFill>
              <a:srgbClr val="FFD54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91456" y="396849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54F"/>
                </a:solidFill>
              </a:rPr>
              <a:t>Fix labels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791456" y="42245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Consistent text reduces major heuristic violations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912864" y="3931920"/>
            <a:ext cx="2103120" cy="804672"/>
          </a:xfrm>
          <a:prstGeom prst="roundRect">
            <a:avLst>
              <a:gd name="adj" fmla="val 6818"/>
            </a:avLst>
          </a:prstGeom>
          <a:solidFill>
            <a:srgbClr val="142233"/>
          </a:solidFill>
          <a:ln w="6350">
            <a:solidFill>
              <a:srgbClr val="FFD54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04304" y="396849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54F"/>
                </a:solidFill>
              </a:rPr>
              <a:t>1-click checkout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004304" y="42245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Streamline to reduce task steps like Amazon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66" name="Text 64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A4AE"/>
                </a:solidFill>
              </a:rPr>
              <a:t>Conclusion: Quantitative HCI evaluation clearly identifies interface quality differences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1644</Words>
  <Application>Microsoft Office PowerPoint</Application>
  <PresentationFormat>On-screen Show (16:9)</PresentationFormat>
  <Paragraphs>421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 Rehman</cp:lastModifiedBy>
  <cp:revision>3</cp:revision>
  <dcterms:created xsi:type="dcterms:W3CDTF">2026-06-12T13:29:15Z</dcterms:created>
  <dcterms:modified xsi:type="dcterms:W3CDTF">2026-06-14T14:08:43Z</dcterms:modified>
</cp:coreProperties>
</file>