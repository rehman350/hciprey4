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7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50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AutoClaimCar is a live, deployed platform - not a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from the car owner point of view. Every one of these is something we heard from real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user journey. Emphasise that all four steps happen inside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and confident here: scope grew a lot once we started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worker separation is our most important engineering decision. Expect a question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real dataset size, class count and mAP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Examiners often ask why cost estimation is not ML. This slide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features. Mention that My Garage, Car Passport and POS were all added after the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Flask and not Django: we needed custom auth for workshop approval and subscription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FYP projects run on localhost. Stress that this one is deployed and reachable from any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not the detection model. It is everything built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debugging ability is a strength. These are real problems with real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Offer to open the live platform on a phone for the examiners.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live site open on a phone, ready to hand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00B5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38B6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7276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AutoClaim</a:t>
            </a:r>
            <a:r>
              <a:rPr lang="en-US" sz="6200" b="1" dirty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68680" y="27614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Vehicle Damage Assessment &amp; Workshop Marketplace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3346704"/>
            <a:ext cx="1371600" cy="41148"/>
          </a:xfrm>
          <a:prstGeom prst="rect">
            <a:avLst/>
          </a:prstGeom>
          <a:solidFill>
            <a:srgbClr val="00B58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84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• 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370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4681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992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F2022105002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4681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Jabbar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992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F2022105047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4681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Khurram Pervaiz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4992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F2022105114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32520" y="4279392"/>
            <a:ext cx="2606040" cy="1115568"/>
          </a:xfrm>
          <a:prstGeom prst="roundRect">
            <a:avLst>
              <a:gd name="adj" fmla="val 819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9408" y="44622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ADVISOR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79408" y="4700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Usama Ahmed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79408" y="49926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Department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Management &amp; Technology, Lahore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00B5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 Repair in Pakistan is Guesswork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  <a:effectLst>
            <a:outerShdw blurRad="101600" dist="25400" dir="5400000" algn="bl" rotWithShape="0">
              <a:srgbClr val="9FB6C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35915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0B58F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99032" y="23774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transparency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9032" y="2743200"/>
            <a:ext cx="230428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have no idea what a fair repair cost looks like before visiting a workshop.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  <a:effectLst>
            <a:outerShdw blurRad="101600" dist="25400" dir="5400000" algn="bl" rotWithShape="0">
              <a:srgbClr val="9FB6C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7992" y="235915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0B58F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48072" y="23774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estimates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8072" y="2743200"/>
            <a:ext cx="230428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depends on a person inspecting the car. It takes days and varies by who looks at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01000" y="21031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  <a:effectLst>
            <a:outerShdw blurRad="101600" dist="25400" dir="5400000" algn="bl" rotWithShape="0">
              <a:srgbClr val="9FB6C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235915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0B58F"/>
          </a:solidFill>
          <a:ln/>
        </p:spPr>
      </p:sp>
      <p:sp>
        <p:nvSpPr>
          <p:cNvPr id="18" name="Text 16"/>
          <p:cNvSpPr/>
          <p:nvPr/>
        </p:nvSpPr>
        <p:spPr>
          <a:xfrm>
            <a:off x="825703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97112" y="23774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trusted workshops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7112" y="2743200"/>
            <a:ext cx="230428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listings, no ratings, no service history. Trust is built on word of mouth.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828032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0B132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0474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owners overpay, workshops lose credibility, and the whole process runs on trust instead of data.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00B5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38B6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Platform, Four Steps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59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photo of the damaged car.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18104" y="299923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55848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359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0168" y="2852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0168" y="3218688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finds each damaged part and its severity.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71032" y="299923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08776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2359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83096" y="2852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83096" y="3218688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 a repair cost range in PKR.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23960" y="299923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1704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6024" y="235915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336024" y="2852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36024" y="3218688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 verified workshop and books it.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7091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photo to booked workshop in under a minute.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00B5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vs FINAL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Project Grew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PROPOSAL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damage from images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repair cost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nearby workshops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as one 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7648" y="205740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0B132B"/>
          </a:solidFill>
          <a:ln/>
        </p:spPr>
      </p:sp>
      <p:sp>
        <p:nvSpPr>
          <p:cNvPr id="10" name="Text 8"/>
          <p:cNvSpPr/>
          <p:nvPr/>
        </p:nvSpPr>
        <p:spPr>
          <a:xfrm>
            <a:off x="664768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47688" y="2670048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damage detection with confidence scores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rule-based cost engine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marketplace with chat and booking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Sale system for workshop owners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Garage and Car Passport for owners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services, deployed live with CI/CD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56875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described a model. The final project is a working product.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00B5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38B6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Services, Clearly Separated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21284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53288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TypeScript, Vite, Tailwind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30632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07408" y="2029968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1284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253288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SQLAlchemy, 15 modules, JWT auth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08576" y="30632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(Docker)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11896" y="2029968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212848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13064" y="253288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YOLOv8, runs detection only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13064" y="306324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(private)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0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36408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886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" y="42062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tables, managed and serverless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4088" y="455371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3703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3886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08576" y="42062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rate-limit counter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08576" y="455371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11896" y="37033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3064" y="3886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13064" y="42062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 and delivery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13064" y="455371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5193792"/>
            <a:ext cx="11192256" cy="777240"/>
          </a:xfrm>
          <a:prstGeom prst="roundRect">
            <a:avLst>
              <a:gd name="adj" fmla="val 11765"/>
            </a:avLst>
          </a:prstGeom>
          <a:solidFill>
            <a:srgbClr val="112752"/>
          </a:solidFill>
          <a:ln w="12700">
            <a:solidFill>
              <a:srgbClr val="00B5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76672"/>
            <a:ext cx="1064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the AI worker?  YOLOv8 and PyTorch need around 1.5 GB of memory. Keeping them apart lets the backend stay light and scale on its own.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00B5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YOLOv8 for Damage Detection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6720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68880" y="22860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(Ultralytics), custom-trained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7432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with bounding boxes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32004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Dents, scratches and other damage, per part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68880" y="36576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type, affected part, confidence score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41148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best.pt, around 23 MB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457200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to keep hosting cost low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057400"/>
            <a:ext cx="4133088" cy="3108960"/>
          </a:xfrm>
          <a:prstGeom prst="roundRect">
            <a:avLst>
              <a:gd name="adj" fmla="val 2941"/>
            </a:avLst>
          </a:prstGeom>
          <a:solidFill>
            <a:srgbClr val="0B132B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YOLOv8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63840" y="2633472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and stable, with strong documentation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on large visible objects like car panels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run on CPU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to a newer version is a one-line change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5413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the placeholders below with your final training numbers before the viva.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6509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[4000]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02920" y="62544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9272" y="56509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[6]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319272" y="62544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35624" y="56509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[79]%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135624" y="62544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51976" y="56509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[300]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951976" y="62544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00B5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38B6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We Calculate Repair Cost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6720840" cy="713232"/>
          </a:xfrm>
          <a:prstGeom prst="roundRect">
            <a:avLst>
              <a:gd name="adj" fmla="val 1153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58568"/>
            <a:ext cx="365760" cy="365760"/>
          </a:xfrm>
          <a:prstGeom prst="ellipse">
            <a:avLst/>
          </a:prstGeom>
          <a:solidFill>
            <a:srgbClr val="00B5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22128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damage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23113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and damage type come from the model.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6720840" cy="713232"/>
          </a:xfrm>
          <a:prstGeom prst="roundRect">
            <a:avLst>
              <a:gd name="adj" fmla="val 1153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99816"/>
            <a:ext cx="365760" cy="365760"/>
          </a:xfrm>
          <a:prstGeom prst="ellipse">
            <a:avLst/>
          </a:prstGeom>
          <a:solidFill>
            <a:srgbClr val="00B58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0540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price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30723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up from an admin-managed price table.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767328"/>
            <a:ext cx="6720840" cy="713232"/>
          </a:xfrm>
          <a:prstGeom prst="roundRect">
            <a:avLst>
              <a:gd name="adj" fmla="val 1153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941064"/>
            <a:ext cx="365760" cy="365760"/>
          </a:xfrm>
          <a:prstGeom prst="ellipse">
            <a:avLst/>
          </a:prstGeom>
          <a:solidFill>
            <a:srgbClr val="00B58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38953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factor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91363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damage size adjust the figure.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608576"/>
            <a:ext cx="6720840" cy="713232"/>
          </a:xfrm>
          <a:prstGeom prst="roundRect">
            <a:avLst>
              <a:gd name="adj" fmla="val 11538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782312"/>
            <a:ext cx="365760" cy="365760"/>
          </a:xfrm>
          <a:prstGeom prst="ellipse">
            <a:avLst/>
          </a:prstGeom>
          <a:solidFill>
            <a:srgbClr val="00B58F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1872" y="47365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range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11880" y="47548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and maximum estimate in PKR.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43800" y="2084832"/>
            <a:ext cx="4133088" cy="3127248"/>
          </a:xfrm>
          <a:prstGeom prst="roundRect">
            <a:avLst>
              <a:gd name="adj" fmla="val 2924"/>
            </a:avLst>
          </a:prstGeom>
          <a:solidFill>
            <a:srgbClr val="112752"/>
          </a:solidFill>
          <a:ln w="12700">
            <a:solidFill>
              <a:srgbClr val="00B5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RULES, NOT ML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863840" y="2670048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pricing model needs real invoice data, which is not publicly available in Pakistan.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engine is transparent, easy to audit, and an admin can update prices as the market changes.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show exactly how any figure was reached.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engineering: we chose the method we could justify, not the one that sounds most advanced.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00B5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Platform Offers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224942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6517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Damage Detection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309067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and get every damaged part identified with a confidence score.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46704" y="202996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224942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6517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Cost Estimate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84448" y="309067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repair cost range in PKR before visiting any workshop.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0488" y="202996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24942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26517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Marketplace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verified workshops by city, filter by service, view them on a map.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34272" y="202996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72016" y="224942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20" name="Text 18"/>
          <p:cNvSpPr/>
          <p:nvPr/>
        </p:nvSpPr>
        <p:spPr>
          <a:xfrm>
            <a:off x="9272016" y="265176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&amp; Chat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72016" y="309067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service request and message the workshop directly inside the platform.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90448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" y="41239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" y="4526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Garage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0664" y="496519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vehicles, keep service history and get maintenance reminders.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46704" y="390448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84448" y="41239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28" name="Text 26"/>
          <p:cNvSpPr/>
          <p:nvPr/>
        </p:nvSpPr>
        <p:spPr>
          <a:xfrm>
            <a:off x="3584448" y="4526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Passport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584448" y="496519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vehicle history that can be shared as a link or PDF at resale.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0488" y="390448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41239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32" name="Text 30"/>
          <p:cNvSpPr/>
          <p:nvPr/>
        </p:nvSpPr>
        <p:spPr>
          <a:xfrm>
            <a:off x="6428232" y="4526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POS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28232" y="496519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inventory, expenses and invoices for workshop owners.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34272" y="3904488"/>
            <a:ext cx="2615184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72016" y="41239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0B58F"/>
          </a:solidFill>
          <a:ln/>
        </p:spPr>
      </p:sp>
      <p:sp>
        <p:nvSpPr>
          <p:cNvPr id="36" name="Text 34"/>
          <p:cNvSpPr/>
          <p:nvPr/>
        </p:nvSpPr>
        <p:spPr>
          <a:xfrm>
            <a:off x="9272016" y="4526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272016" y="496519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workshops, manage part prices, cities, brands and models.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00B5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38B6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304288"/>
            <a:ext cx="329184" cy="36576"/>
          </a:xfrm>
          <a:prstGeom prst="rect">
            <a:avLst/>
          </a:prstGeom>
          <a:solidFill>
            <a:srgbClr val="00B58F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798064"/>
            <a:ext cx="21396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46704" y="2029968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2304288"/>
            <a:ext cx="329184" cy="36576"/>
          </a:xfrm>
          <a:prstGeom prst="rect">
            <a:avLst/>
          </a:prstGeom>
          <a:solidFill>
            <a:srgbClr val="00B58F"/>
          </a:solidFill>
          <a:ln/>
        </p:spPr>
      </p:sp>
      <p:sp>
        <p:nvSpPr>
          <p:cNvPr id="13" name="Text 11"/>
          <p:cNvSpPr/>
          <p:nvPr/>
        </p:nvSpPr>
        <p:spPr>
          <a:xfrm>
            <a:off x="3602736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02736" y="2798064"/>
            <a:ext cx="21396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Flask-Migrate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0488" y="2029968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304288"/>
            <a:ext cx="329184" cy="36576"/>
          </a:xfrm>
          <a:prstGeom prst="rect">
            <a:avLst/>
          </a:prstGeom>
          <a:solidFill>
            <a:srgbClr val="00B58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98064"/>
            <a:ext cx="21396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(CPU)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4272" y="2029968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2304288"/>
            <a:ext cx="329184" cy="36576"/>
          </a:xfrm>
          <a:prstGeom prst="rect">
            <a:avLst/>
          </a:prstGeom>
          <a:solidFill>
            <a:srgbClr val="00B58F"/>
          </a:solidFill>
          <a:ln/>
        </p:spPr>
      </p:sp>
      <p:sp>
        <p:nvSpPr>
          <p:cNvPr id="21" name="Text 19"/>
          <p:cNvSpPr/>
          <p:nvPr/>
        </p:nvSpPr>
        <p:spPr>
          <a:xfrm>
            <a:off x="9290304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90304" y="2798064"/>
            <a:ext cx="21396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uses the tool that fits it best — Flask for the API, FastAPI for the AI worker.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00B5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Platform is Live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4747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15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89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every push to main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057400"/>
            <a:ext cx="34747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615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AI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889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on a private network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2057400"/>
            <a:ext cx="347472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677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615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288950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database, Singapore region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858768"/>
            <a:ext cx="11173968" cy="1481328"/>
          </a:xfrm>
          <a:prstGeom prst="roundRect">
            <a:avLst>
              <a:gd name="adj" fmla="val 6173"/>
            </a:avLst>
          </a:prstGeom>
          <a:solidFill>
            <a:srgbClr val="0B132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59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GITHUB ACTIONS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407408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4074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566160" y="4407408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94176" y="44074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407408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44074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61120" y="4407408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89136" y="44074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559552"/>
            <a:ext cx="11173968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00B5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72414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  </a:t>
            </a:r>
            <a:r>
              <a:rPr lang="en-US" sz="16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autoclaimai-iota.vercel.app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00B5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This Differs From Existing Work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663440" y="201168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DCE7EE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20116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Projects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321040" y="201168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0B132B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201168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AutoClaimCar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596896"/>
            <a:ext cx="1117396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334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6334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26334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with confidence scores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1638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1638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included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83880" y="31638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PKR range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1117396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941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linking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6941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83880" y="36941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marketplace with chat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42245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tools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42245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83880" y="42245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Garage and Car Passport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718304"/>
            <a:ext cx="11173968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7548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tools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47548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83880" y="47548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 system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52852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52852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localhost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83880" y="52852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 CI/CD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00B5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38B6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Problems We Solved Along the Way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31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52374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needed 1.5 GB of RAM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950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it into its own service so the backend stays small.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029968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31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52374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could not reach the AI worker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88950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private networking is IPv6 only. Fixed the host binding.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86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27939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migration created no tables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caught it on a clean database. We regenerated it properly.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785616"/>
            <a:ext cx="5440680" cy="1572768"/>
          </a:xfrm>
          <a:prstGeom prst="roundRect">
            <a:avLst>
              <a:gd name="adj" fmla="val 5814"/>
            </a:avLst>
          </a:prstGeom>
          <a:solidFill>
            <a:srgbClr val="112752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986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427939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counted twice with two workers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464515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the counter into Redis so both workers share 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56875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was found and fixed before deployment.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00B58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We Are and What Comes Next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5440680" cy="3310128"/>
          </a:xfrm>
          <a:prstGeom prst="roundRect">
            <a:avLst>
              <a:gd name="adj" fmla="val 2762"/>
            </a:avLst>
          </a:prstGeom>
          <a:solidFill>
            <a:srgbClr val="0B13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damage detection working end to 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cost estimation in PKR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marketplace with chat and booking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 for workshop owners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Garage and Car Passport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with an automated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2029968"/>
            <a:ext cx="5440680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D6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249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56248" y="2633472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for Android and 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larger local damage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pricing from real invoice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company integration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language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more cities across Pakistan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5559552"/>
            <a:ext cx="11173968" cy="749808"/>
          </a:xfrm>
          <a:prstGeom prst="roundRect">
            <a:avLst>
              <a:gd name="adj" fmla="val 12195"/>
            </a:avLst>
          </a:prstGeom>
          <a:solidFill>
            <a:srgbClr val="0B13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72414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AutoClaimCar is not a prototype. It is a working platform, live on the internet today.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0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852160" cy="5852160"/>
          </a:xfrm>
          <a:prstGeom prst="ellipse">
            <a:avLst/>
          </a:prstGeom>
          <a:solidFill>
            <a:srgbClr val="00B58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5120640" cy="5120640"/>
          </a:xfrm>
          <a:prstGeom prst="ellipse">
            <a:avLst/>
          </a:prstGeom>
          <a:solidFill>
            <a:srgbClr val="38B6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68680" y="3273552"/>
            <a:ext cx="1371600" cy="41148"/>
          </a:xfrm>
          <a:prstGeom prst="rect">
            <a:avLst/>
          </a:prstGeom>
          <a:solidFill>
            <a:srgbClr val="00B58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867912"/>
            <a:ext cx="6035040" cy="841248"/>
          </a:xfrm>
          <a:prstGeom prst="roundRect">
            <a:avLst>
              <a:gd name="adj" fmla="val 10870"/>
            </a:avLst>
          </a:prstGeom>
          <a:solidFill>
            <a:srgbClr val="112752"/>
          </a:solidFill>
          <a:ln w="15875">
            <a:solidFill>
              <a:srgbClr val="00B5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1857" y="4082433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platform:   </a:t>
            </a:r>
            <a:r>
              <a:rPr lang="en-US" sz="1500" b="1" dirty="0">
                <a:solidFill>
                  <a:srgbClr val="00B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autoclaimai-iota.vercel.app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55778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AutoClaim</a:t>
            </a:r>
            <a:r>
              <a:rPr lang="en-US" sz="2200" b="1" dirty="0">
                <a:solidFill>
                  <a:srgbClr val="00B5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5650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Rehman  •  Zain Jabbar  •  Khurram Pervaiz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1397</Words>
  <Application>Microsoft Office PowerPoint</Application>
  <PresentationFormat>Widescreen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AutoClaimCar - Final Year Project</dc:title>
  <dc:subject>PptxGenJS Presentation</dc:subject>
  <dc:creator>Abdul Rehman, Zain Jabbar, Khurram Pervaiz</dc:creator>
  <cp:lastModifiedBy>Abdul Rehman</cp:lastModifiedBy>
  <cp:revision>4</cp:revision>
  <dcterms:created xsi:type="dcterms:W3CDTF">2026-07-21T01:39:18Z</dcterms:created>
  <dcterms:modified xsi:type="dcterms:W3CDTF">2026-07-21T02:51:43Z</dcterms:modified>
</cp:coreProperties>
</file>